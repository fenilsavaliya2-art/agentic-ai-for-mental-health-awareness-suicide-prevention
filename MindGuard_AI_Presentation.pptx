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7bd6ad9696b34f8e" /><Relationship Type="http://schemas.openxmlformats.org/package/2006/relationships/metadata/core-properties" Target="/docProps/core.xml" Id="Rfb4622be2d824f1e" /><Relationship Type="http://schemas.openxmlformats.org/officeDocument/2006/relationships/extended-properties" Target="/docProps/app.xml" Id="R9a7224cb52a345ff" /><Relationship Type="http://schemas.openxmlformats.org/officeDocument/2006/relationships/custom-properties" Target="/docProps/custom.xml" Id="Rdf5fda83ab31464d"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b2b4eb6b77434fa6"/>
  </p:notesMasterIdLst>
  <p:sldIdLst>
    <p:sldId id="256" r:id="R4dd9911eacf44aa4"/>
    <p:sldId id="257" r:id="R96b7323b9ea54c7e"/>
    <p:sldId id="258" r:id="R3058cdc2d3ca4203"/>
    <p:sldId id="259" r:id="R23ce2237bc0b40cd"/>
    <p:sldId id="260" r:id="Rb305956d95fb4d6c"/>
    <p:sldId id="261" r:id="Rbf212f92ad8d4196"/>
    <p:sldId id="262" r:id="Rd278c806b433489c"/>
    <p:sldId id="263" r:id="Rc1134dc9d3464d56"/>
    <p:sldId id="264" r:id="R2094008dedba4d65"/>
    <p:sldId id="265" r:id="R153cf1a5c5824906"/>
    <p:sldId id="266" r:id="R31a7d7840d344022"/>
    <p:sldId id="267" r:id="R5bcc49a507434c80"/>
    <p:sldId id="268" r:id="Rbfdcdcb759334f17"/>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4dd9911eacf44aa4" /><Relationship Type="http://schemas.openxmlformats.org/officeDocument/2006/relationships/notesMaster" Target="/ppt/notesMasters/notesMaster1.xml" Id="Rb2b4eb6b77434fa6" /><Relationship Type="http://schemas.openxmlformats.org/officeDocument/2006/relationships/slide" Target="/ppt/slides/slide2.xml" Id="R96b7323b9ea54c7e" /><Relationship Type="http://schemas.openxmlformats.org/officeDocument/2006/relationships/slide" Target="/ppt/slides/slide3.xml" Id="R3058cdc2d3ca4203" /><Relationship Type="http://schemas.openxmlformats.org/officeDocument/2006/relationships/slide" Target="/ppt/slides/slide4.xml" Id="R23ce2237bc0b40cd" /><Relationship Type="http://schemas.openxmlformats.org/officeDocument/2006/relationships/slide" Target="/ppt/slides/slide5.xml" Id="Rb305956d95fb4d6c" /><Relationship Type="http://schemas.openxmlformats.org/officeDocument/2006/relationships/slide" Target="/ppt/slides/slide6.xml" Id="Rbf212f92ad8d4196" /><Relationship Type="http://schemas.openxmlformats.org/officeDocument/2006/relationships/slide" Target="/ppt/slides/slide7.xml" Id="Rd278c806b433489c" /><Relationship Type="http://schemas.openxmlformats.org/officeDocument/2006/relationships/slide" Target="/ppt/slides/slide8.xml" Id="Rc1134dc9d3464d56" /><Relationship Type="http://schemas.openxmlformats.org/officeDocument/2006/relationships/slide" Target="/ppt/slides/slide9.xml" Id="R2094008dedba4d65" /><Relationship Type="http://schemas.openxmlformats.org/officeDocument/2006/relationships/slide" Target="/ppt/slides/slide10.xml" Id="R153cf1a5c5824906" /><Relationship Type="http://schemas.openxmlformats.org/officeDocument/2006/relationships/slide" Target="/ppt/slides/slide11.xml" Id="R31a7d7840d344022" /><Relationship Type="http://schemas.openxmlformats.org/officeDocument/2006/relationships/slide" Target="/ppt/slides/slide12.xml" Id="R5bcc49a507434c80" /><Relationship Type="http://schemas.openxmlformats.org/officeDocument/2006/relationships/slide" Target="/ppt/slides/slide13.xml" Id="Rbfdcdcb759334f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8a5b31e66a674234"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888e4a1a060e4599" /><Relationship Type="http://schemas.openxmlformats.org/officeDocument/2006/relationships/slide" Target="/ppt/slides/slide1.xml" Id="R3e706330319b45bf"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f78839308094473d" /><Relationship Type="http://schemas.openxmlformats.org/officeDocument/2006/relationships/slide" Target="/ppt/slides/slide2.xml" Id="Re4b1c9c83eee4303"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26f7d0a3c1634776" /><Relationship Type="http://schemas.openxmlformats.org/officeDocument/2006/relationships/slide" Target="/ppt/slides/slide3.xml" Id="R6aef5e518ffd45a7"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633034b8b7414ed8" /><Relationship Type="http://schemas.openxmlformats.org/officeDocument/2006/relationships/slide" Target="/ppt/slides/slide4.xml" Id="R39f47c30f4fe492f"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d287de351d904696" /><Relationship Type="http://schemas.openxmlformats.org/officeDocument/2006/relationships/slide" Target="/ppt/slides/slide5.xml" Id="Ra9905d37487c4900"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012ea87ff84141db" /><Relationship Type="http://schemas.openxmlformats.org/officeDocument/2006/relationships/slide" Target="/ppt/slides/slide6.xml" Id="Rec1a4c0a587a494b"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919eacc38be748f3" /><Relationship Type="http://schemas.openxmlformats.org/officeDocument/2006/relationships/slide" Target="/ppt/slides/slide7.xml" Id="R2549dae9c1ce4dc8"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999f70e851e64761" /><Relationship Type="http://schemas.openxmlformats.org/officeDocument/2006/relationships/slide" Target="/ppt/slides/slide8.xml" Id="R6b84148049fa42ef"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26858e0f6b4147f4" /><Relationship Type="http://schemas.openxmlformats.org/officeDocument/2006/relationships/slide" Target="/ppt/slides/slide9.xml" Id="Rd0bd099112b94bf4"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c83297e5048e4bce" /><Relationship Type="http://schemas.openxmlformats.org/officeDocument/2006/relationships/slide" Target="/ppt/slides/slide10.xml" Id="Ra3fc139a10934186" /></Relationships>
</file>

<file path=ppt/notesSlides/_rels/notesSlide11.xml.rels>&#65279;<?xml version="1.0" encoding="utf-8"?><Relationships xmlns="http://schemas.openxmlformats.org/package/2006/relationships"><Relationship Type="http://schemas.openxmlformats.org/officeDocument/2006/relationships/notesMaster" Target="/ppt/notesMasters/notesMaster1.xml" Id="R785d5ec3c07e4678" /><Relationship Type="http://schemas.openxmlformats.org/officeDocument/2006/relationships/slide" Target="/ppt/slides/slide11.xml" Id="R9b1189ff3d3a4b7d" /></Relationships>
</file>

<file path=ppt/notesSlides/_rels/notesSlide12.xml.rels>&#65279;<?xml version="1.0" encoding="utf-8"?><Relationships xmlns="http://schemas.openxmlformats.org/package/2006/relationships"><Relationship Type="http://schemas.openxmlformats.org/officeDocument/2006/relationships/notesMaster" Target="/ppt/notesMasters/notesMaster1.xml" Id="R53d9ba96b2144aed" /><Relationship Type="http://schemas.openxmlformats.org/officeDocument/2006/relationships/slide" Target="/ppt/slides/slide12.xml" Id="R98c8fca14e764eaa" /></Relationships>
</file>

<file path=ppt/notesSlides/_rels/notesSlide13.xml.rels>&#65279;<?xml version="1.0" encoding="utf-8"?><Relationships xmlns="http://schemas.openxmlformats.org/package/2006/relationships"><Relationship Type="http://schemas.openxmlformats.org/officeDocument/2006/relationships/notesMaster" Target="/ppt/notesMasters/notesMaster1.xml" Id="R62d6eae3c2854d53" /><Relationship Type="http://schemas.openxmlformats.org/officeDocument/2006/relationships/slide" Target="/ppt/slides/slide13.xml" Id="R9d981a52b7544a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Title slide. MindGuard is a compassionate Mental Health Awareness and Suicide Prevention AI powered by IBM Granite LLM via watsonx.ai. It uses a RAG pipeline with FAISS and sentence-transformers for evidence-based responses.</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Overview: The project addresses the global mental health crisis by providing an always-available empathetic AI companion. It is not a replacement for professional help but a supportive first-contact resource.</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Architecture: User input flows through risk triage, RAG retrieval, and IBM Granite LLM to produce a safe, contextualised empathetic response. Crisis resources and disclaimers are appended automatically.</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Three core Python modules: agent.py orchestrates LLM calls and conversation flow; rag_engine.py handles vector similarity retrieval; knowledge_base.py stores curated content and performs keyword-based risk triage.</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RAG pipeline: knowledge documents are embedded once at startup and cached. Every user query is encoded and compared against the FAISS index. The top-3 most semantically similar documents are injected as context into the LLM prompt.</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Safety is the top priority. A two-tier keyword scan runs on every user message before the LLM call. HIGH risk triggers immediate crisis resource injection. MEDIUM risk prompts gentle professional referral. Ethics guardrails are baked into the system prompt.</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knowledge base contains 13 professionally curated documents across 8 mental health categories. All documents include evidence-based facts, coping strategies, and professional referral cues that the RAG engine surfaces contextually.</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IBM Granite 13B Instruct v2 is used for its strong instruction-following capability. Temperature 0.75 balances creativity with reliability. The system prompt enforces the MindGuard persona with strict ethical guardrails baked in at the template level.</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Example conversation flow: normal distress triggers MEDIUM risk and RAG-backed empathetic response. Crisis language triggers HIGH risk with immediate helpline injection, overriding normal conversation flow to prioritise user safety.</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Full Python stack: IBM watsonx.ai SDK for LLM access, LangChain for orchestration utilities, FAISS + SentenceTransformers for vector retrieval, Flask for API layer, python-dotenv for secure credential management.</a:t>
            </a:r>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Ethical design is foundational. All four ethics guardrails are encoded in the system prompt and enforced at generation time. A medical disclaimer is appended to every single response, not just crisis responses.</a:t>
            </a:r>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Summary: MindGuard combines IBM Granite's instruction-following LLM with a RAG knowledge base, real-time safety triage, and strict ethical guardrails to deliver an accessible, responsible mental health support tool.</a:t>
            </a:r>
          </a:p>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Thank you slide. Built with IBM Granite LLM on watsonx.ai platform.</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ce95ac18c2429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9a6238997e94ee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491e642080d46b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76e4860558249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7f684f4e6ab4a7f"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085331e5867c47b3"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7fe5c0b92c1840da" /><Relationship Type="http://schemas.openxmlformats.org/officeDocument/2006/relationships/notesSlide" Target="/ppt/notesSlides/notesSlide1.xml" Id="Rba218d58f14d40f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2e654b92d864209" /><Relationship Type="http://schemas.openxmlformats.org/officeDocument/2006/relationships/notesSlide" Target="/ppt/notesSlides/notesSlide2.xml" Id="R42956d1bfab943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bbb74a6828b4bd2" /><Relationship Type="http://schemas.openxmlformats.org/officeDocument/2006/relationships/notesSlide" Target="/ppt/notesSlides/notesSlide3.xml" Id="R61e45f0854c745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d918fdab1b14ef7" /><Relationship Type="http://schemas.openxmlformats.org/officeDocument/2006/relationships/notesSlide" Target="/ppt/notesSlides/notesSlide4.xml" Id="R3de597e8af3c41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c4f9e1094a24338" /><Relationship Type="http://schemas.openxmlformats.org/officeDocument/2006/relationships/notesSlide" Target="/ppt/notesSlides/notesSlide5.xml" Id="R0b0669e592f74c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4ae54c8b0784c1b" /><Relationship Type="http://schemas.openxmlformats.org/officeDocument/2006/relationships/notesSlide" Target="/ppt/notesSlides/notesSlide6.xml" Id="R256114d6ccb044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b3ff9c10fa46c8" /><Relationship Type="http://schemas.openxmlformats.org/officeDocument/2006/relationships/notesSlide" Target="/ppt/notesSlides/notesSlide7.xml" Id="Rdb1a7bc7a1f949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10fcbeb1b9f4bf8" /><Relationship Type="http://schemas.openxmlformats.org/officeDocument/2006/relationships/notesSlide" Target="/ppt/notesSlides/notesSlide8.xml" Id="R9ec1f8c7282c42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2ca0f2f85e143cc" /><Relationship Type="http://schemas.openxmlformats.org/officeDocument/2006/relationships/notesSlide" Target="/ppt/notesSlides/notesSlide9.xml" Id="R7fe020a8f27441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8addb2e8a5542ea" /><Relationship Type="http://schemas.openxmlformats.org/officeDocument/2006/relationships/notesSlide" Target="/ppt/notesSlides/notesSlide10.xml" Id="Rb427cd6eed5d4d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6527d3370594593" /><Relationship Type="http://schemas.openxmlformats.org/officeDocument/2006/relationships/notesSlide" Target="/ppt/notesSlides/notesSlide11.xml" Id="R725e4a443d6146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1b56158d2c04dc2" /><Relationship Type="http://schemas.openxmlformats.org/officeDocument/2006/relationships/notesSlide" Target="/ppt/notesSlides/notesSlide12.xml" Id="R8e0aa7b60f21438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aee2c3fd5f2446c" /><Relationship Type="http://schemas.openxmlformats.org/officeDocument/2006/relationships/notesSlide" Target="/ppt/notesSlides/notesSlide13.xml" Id="R6d3afbd8b49c4ff9" /></Relationships>
</file>

<file path=ppt/slides/slide1.xml><?xml version="1.0" encoding="utf-8"?>
<p:sld xmlns:p="http://schemas.openxmlformats.org/presentationml/2006/main">
  <p:cSld>
    <p:bg>
      <p:bgPr>
        <a:solidFill xmlns:a="http://schemas.openxmlformats.org/drawingml/2006/main">
          <a:srgbClr val="0A2540"/>
        </a:solidFill>
      </p:bgPr>
    </p:bg>
    <p:spTree>
      <p:nvGrpSpPr>
        <p:cNvPr id="1" name=""/>
        <p:cNvGrpSpPr/>
        <p:nvPr/>
      </p:nvGrpSpPr>
      <p:grpSpPr/>
      <p:sp>
        <p:nvSpPr>
          <p:cNvPr id="100000" name="Tag"/>
          <p:cNvSpPr txBox="1"/>
          <p:nvPr/>
        </p:nvSpPr>
        <p:spPr>
          <a:xfrm xmlns:a="http://schemas.openxmlformats.org/drawingml/2006/main">
            <a:off x="540000" y="360000"/>
            <a:ext cx="1080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b="0">
                <a:solidFill>
                  <a:srgbClr val="7EC8E3"/>
                </a:solidFill>
              </a:rPr>
              <a:t>IBM watsonx.ai  ·  Granite LLM  ·  RAG</a:t>
            </a:r>
          </a:p>
        </p:txBody>
      </p:sp>
      <p:sp>
        <p:nvSpPr>
          <p:cNvPr id="100001" name="Title"/>
          <p:cNvSpPr txBox="1"/>
          <p:nvPr/>
        </p:nvSpPr>
        <p:spPr>
          <a:xfrm xmlns:a="http://schemas.openxmlformats.org/drawingml/2006/main">
            <a:off x="540000" y="1080000"/>
            <a:ext cx="10800000" cy="12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5400" b="1">
                <a:solidFill>
                  <a:srgbClr val="FFFFFF"/>
                </a:solidFill>
              </a:rPr>
              <a:t>MindGuard AI</a:t>
            </a:r>
          </a:p>
        </p:txBody>
      </p:sp>
      <p:sp>
        <p:nvSpPr>
          <p:cNvPr id="100002" name="Subtitle"/>
          <p:cNvSpPr txBox="1"/>
          <p:nvPr/>
        </p:nvSpPr>
        <p:spPr>
          <a:xfrm xmlns:a="http://schemas.openxmlformats.org/drawingml/2006/main">
            <a:off x="540000" y="2520000"/>
            <a:ext cx="108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600" b="0">
                <a:solidFill>
                  <a:srgbClr val="A8D8EA"/>
                </a:solidFill>
              </a:rPr>
              <a:t>Mental Health Awareness &amp; Suicide Prevention Agent</a:t>
            </a:r>
          </a:p>
        </p:txBody>
      </p:sp>
      <p:sp>
        <p:nvSpPr>
          <p:cNvPr id="100003" name="Desc"/>
          <p:cNvSpPr txBox="1"/>
          <p:nvPr/>
        </p:nvSpPr>
        <p:spPr>
          <a:xfrm xmlns:a="http://schemas.openxmlformats.org/drawingml/2006/main">
            <a:off x="540000" y="3600000"/>
            <a:ext cx="1080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a:solidFill>
                  <a:srgbClr val="7EC8E3"/>
                </a:solidFill>
              </a:rPr>
              <a:t>Empathetic AI powered by IBM Granite · Retrieval-Augmented Generation · Real-time Crisis Detection</a:t>
            </a:r>
          </a:p>
        </p:txBody>
      </p:sp>
    </p:spTree>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04" name="Heade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0A2540"/>
          </a:solidFill>
        </p:spPr>
        <p:txBody>
          <a:bodyPr xmlns:a="http://schemas.openxmlformats.org/drawingml/2006/main"/>
          <a:lstStyle xmlns:a="http://schemas.openxmlformats.org/drawingml/2006/main"/>
          <a:p xmlns:a="http://schemas.openxmlformats.org/drawingml/2006/main">
            <a:endParaRPr lang="en-US" sz="3600" b="1">
              <a:solidFill>
                <a:srgbClr val="FFFFFF"/>
              </a:solidFill>
            </a:endParaRPr>
          </a:p>
        </p:txBody>
      </p:sp>
      <p:sp>
        <p:nvSpPr>
          <p:cNvPr id="100005" name="Title"/>
          <p:cNvSpPr txBox="1"/>
          <p:nvPr/>
        </p:nvSpPr>
        <p:spPr>
          <a:xfrm xmlns:a="http://schemas.openxmlformats.org/drawingml/2006/main">
            <a:off x="540000" y="144000"/>
            <a:ext cx="108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Project Overview</a:t>
            </a:r>
          </a:p>
        </p:txBody>
      </p:sp>
      <p:sp>
        <p:nvSpPr>
          <p:cNvPr id="100006" name="Body"/>
          <p:cNvSpPr txBox="1"/>
          <p:nvPr/>
        </p:nvSpPr>
        <p:spPr>
          <a:xfrm xmlns:a="http://schemas.openxmlformats.org/drawingml/2006/main">
            <a:off x="540000" y="1260000"/>
            <a:ext cx="10800000" cy="46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a:solidFill>
                  <a:srgbClr val="1F2328"/>
                </a:solidFill>
              </a:rPr>
              <a:t>Problem Statement</a:t>
            </a:r>
          </a:p>
          <a:p xmlns:a="http://schemas.openxmlformats.org/drawingml/2006/main">
            <a:r>
              <a:rPr lang="en-US" sz="1800">
                <a:solidFill>
                  <a:srgbClr val="1F2328"/>
                </a:solidFill>
              </a:rPr>
              <a:t>Mental health crises are underserved by technology. Millions lack immediate, judgment-free support. Suicide remains a leading preventable cause of death globally.</a:t>
            </a:r>
          </a:p>
          <a:p xmlns:a="http://schemas.openxmlformats.org/drawingml/2006/main">
            <a:r>
              <a:rPr lang="en-US" sz="1800">
                <a:solidFill>
                  <a:srgbClr val="1F2328"/>
                </a:solidFill>
              </a:rPr>
              <a:t/>
            </a:r>
          </a:p>
          <a:p xmlns:a="http://schemas.openxmlformats.org/drawingml/2006/main">
            <a:r>
              <a:rPr lang="en-US" sz="1800">
                <a:solidFill>
                  <a:srgbClr val="1F2328"/>
                </a:solidFill>
              </a:rPr>
              <a:t>Solution</a:t>
            </a:r>
          </a:p>
          <a:p xmlns:a="http://schemas.openxmlformats.org/drawingml/2006/main">
            <a:r>
              <a:rPr lang="en-US" sz="1800">
                <a:solidFill>
                  <a:srgbClr val="1F2328"/>
                </a:solidFill>
              </a:rPr>
              <a:t>MindGuard is a conversational AI agent that listens empathetically, provides evidence-based guidance, detects crisis signals in real-time, and connects users to professional resources — available 24 / 7.</a:t>
            </a:r>
          </a:p>
          <a:p xmlns:a="http://schemas.openxmlformats.org/drawingml/2006/main">
            <a:r>
              <a:rPr lang="en-US" sz="1800">
                <a:solidFill>
                  <a:srgbClr val="1F2328"/>
                </a:solidFill>
              </a:rPr>
              <a:t/>
            </a:r>
          </a:p>
          <a:p xmlns:a="http://schemas.openxmlformats.org/drawingml/2006/main">
            <a:r>
              <a:rPr lang="en-US" sz="1800">
                <a:solidFill>
                  <a:srgbClr val="1F2328"/>
                </a:solidFill>
              </a:rPr>
              <a:t>Target Users</a:t>
            </a:r>
          </a:p>
          <a:p xmlns:a="http://schemas.openxmlformats.org/drawingml/2006/main">
            <a:r>
              <a:rPr lang="en-US" sz="1800">
                <a:solidFill>
                  <a:srgbClr val="1F2328"/>
                </a:solidFill>
              </a:rPr>
              <a:t>  • Individuals experiencing anxiety, depression, or stress</a:t>
            </a:r>
          </a:p>
          <a:p xmlns:a="http://schemas.openxmlformats.org/drawingml/2006/main">
            <a:r>
              <a:rPr lang="en-US" sz="1800">
                <a:solidFill>
                  <a:srgbClr val="1F2328"/>
                </a:solidFill>
              </a:rPr>
              <a:t>  • People supporting a friend or family member in distress</a:t>
            </a:r>
          </a:p>
          <a:p xmlns:a="http://schemas.openxmlformats.org/drawingml/2006/main">
            <a:r>
              <a:rPr lang="en-US" sz="1800">
                <a:solidFill>
                  <a:srgbClr val="1F2328"/>
                </a:solidFill>
              </a:rPr>
              <a:t>  • Educators and counselors seeking a supplementary tool</a:t>
            </a:r>
          </a:p>
        </p:txBody>
      </p:sp>
    </p:spTree>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07" name="Heade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0A2540"/>
          </a:solidFill>
        </p:spPr>
        <p:txBody>
          <a:bodyPr xmlns:a="http://schemas.openxmlformats.org/drawingml/2006/main"/>
          <a:lstStyle xmlns:a="http://schemas.openxmlformats.org/drawingml/2006/main"/>
          <a:p xmlns:a="http://schemas.openxmlformats.org/drawingml/2006/main">
            <a:endParaRPr lang="en-US" sz="3600" b="1">
              <a:solidFill>
                <a:srgbClr val="FFFFFF"/>
              </a:solidFill>
            </a:endParaRPr>
          </a:p>
        </p:txBody>
      </p:sp>
      <p:sp>
        <p:nvSpPr>
          <p:cNvPr id="100008" name="Title"/>
          <p:cNvSpPr txBox="1"/>
          <p:nvPr/>
        </p:nvSpPr>
        <p:spPr>
          <a:xfrm xmlns:a="http://schemas.openxmlformats.org/drawingml/2006/main">
            <a:off x="540000" y="144000"/>
            <a:ext cx="108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System Architecture</a:t>
            </a:r>
          </a:p>
        </p:txBody>
      </p:sp>
      <p:sp>
        <p:nvSpPr>
          <p:cNvPr id="100009" name="Layer1"/>
          <p:cNvSpPr txBox="1"/>
          <p:nvPr/>
        </p:nvSpPr>
        <p:spPr>
          <a:xfrm xmlns:a="http://schemas.openxmlformats.org/drawingml/2006/main">
            <a:off x="540000" y="1260000"/>
            <a:ext cx="3240000" cy="720000"/>
          </a:xfrm>
          <a:prstGeom xmlns:a="http://schemas.openxmlformats.org/drawingml/2006/main" prst="rect">
            <a:avLst/>
          </a:prstGeom>
          <a:solidFill xmlns:a="http://schemas.openxmlformats.org/drawingml/2006/main">
            <a:srgbClr val="3B82D4"/>
          </a:solidFill>
        </p:spPr>
        <p:txBody>
          <a:bodyPr xmlns:a="http://schemas.openxmlformats.org/drawingml/2006/main"/>
          <a:lstStyle xmlns:a="http://schemas.openxmlformats.org/drawingml/2006/main"/>
          <a:p xmlns:a="http://schemas.openxmlformats.org/drawingml/2006/main">
            <a:r>
              <a:rPr lang="en-US" sz="1800" b="1">
                <a:solidFill>
                  <a:srgbClr val="FFFFFF"/>
                </a:solidFill>
              </a:rPr>
              <a:t>USER INPUT</a:t>
            </a:r>
          </a:p>
        </p:txBody>
      </p:sp>
      <p:sp>
        <p:nvSpPr>
          <p:cNvPr id="100010" name="Arrow1"/>
          <p:cNvSpPr txBox="1"/>
          <p:nvPr/>
        </p:nvSpPr>
        <p:spPr>
          <a:xfrm xmlns:a="http://schemas.openxmlformats.org/drawingml/2006/main">
            <a:off x="3960000" y="1440000"/>
            <a:ext cx="72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a:solidFill>
                  <a:srgbClr val="0A2540"/>
                </a:solidFill>
              </a:rPr>
              <a:t>▶</a:t>
            </a:r>
          </a:p>
        </p:txBody>
      </p:sp>
      <p:sp>
        <p:nvSpPr>
          <p:cNvPr id="100011" name="Layer2"/>
          <p:cNvSpPr txBox="1"/>
          <p:nvPr/>
        </p:nvSpPr>
        <p:spPr>
          <a:xfrm xmlns:a="http://schemas.openxmlformats.org/drawingml/2006/main">
            <a:off x="4860000" y="1260000"/>
            <a:ext cx="3240000" cy="720000"/>
          </a:xfrm>
          <a:prstGeom xmlns:a="http://schemas.openxmlformats.org/drawingml/2006/main" prst="rect">
            <a:avLst/>
          </a:prstGeom>
          <a:solidFill xmlns:a="http://schemas.openxmlformats.org/drawingml/2006/main">
            <a:srgbClr val="E74C3C"/>
          </a:solidFill>
        </p:spPr>
        <p:txBody>
          <a:bodyPr xmlns:a="http://schemas.openxmlformats.org/drawingml/2006/main"/>
          <a:lstStyle xmlns:a="http://schemas.openxmlformats.org/drawingml/2006/main"/>
          <a:p xmlns:a="http://schemas.openxmlformats.org/drawingml/2006/main">
            <a:r>
              <a:rPr lang="en-US" sz="1600" b="1">
                <a:solidFill>
                  <a:srgbClr val="FFFFFF"/>
                </a:solidFill>
              </a:rPr>
              <a:t>RISK TRIAGE</a:t>
            </a:r>
          </a:p>
          <a:p xmlns:a="http://schemas.openxmlformats.org/drawingml/2006/main">
            <a:r>
              <a:rPr lang="en-US" sz="1600" b="1">
                <a:solidFill>
                  <a:srgbClr val="FFFFFF"/>
                </a:solidFill>
              </a:rPr>
              <a:t>(knowledge_base.py)</a:t>
            </a:r>
          </a:p>
        </p:txBody>
      </p:sp>
      <p:sp>
        <p:nvSpPr>
          <p:cNvPr id="100012" name="Arrow2"/>
          <p:cNvSpPr txBox="1"/>
          <p:nvPr/>
        </p:nvSpPr>
        <p:spPr>
          <a:xfrm xmlns:a="http://schemas.openxmlformats.org/drawingml/2006/main">
            <a:off x="8280000" y="1440000"/>
            <a:ext cx="72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a:solidFill>
                  <a:srgbClr val="0A2540"/>
                </a:solidFill>
              </a:rPr>
              <a:t>▶</a:t>
            </a:r>
          </a:p>
        </p:txBody>
      </p:sp>
      <p:sp>
        <p:nvSpPr>
          <p:cNvPr id="100013" name="Layer3"/>
          <p:cNvSpPr txBox="1"/>
          <p:nvPr/>
        </p:nvSpPr>
        <p:spPr>
          <a:xfrm xmlns:a="http://schemas.openxmlformats.org/drawingml/2006/main">
            <a:off x="9180000" y="1260000"/>
            <a:ext cx="2520000" cy="720000"/>
          </a:xfrm>
          <a:prstGeom xmlns:a="http://schemas.openxmlformats.org/drawingml/2006/main" prst="rect">
            <a:avLst/>
          </a:prstGeom>
          <a:solidFill xmlns:a="http://schemas.openxmlformats.org/drawingml/2006/main">
            <a:srgbClr val="27AE60"/>
          </a:solidFill>
        </p:spPr>
        <p:txBody>
          <a:bodyPr xmlns:a="http://schemas.openxmlformats.org/drawingml/2006/main"/>
          <a:lstStyle xmlns:a="http://schemas.openxmlformats.org/drawingml/2006/main"/>
          <a:p xmlns:a="http://schemas.openxmlformats.org/drawingml/2006/main">
            <a:r>
              <a:rPr lang="en-US" sz="1600" b="1">
                <a:solidFill>
                  <a:srgbClr val="FFFFFF"/>
                </a:solidFill>
              </a:rPr>
              <a:t>RAG ENGINE</a:t>
            </a:r>
          </a:p>
          <a:p xmlns:a="http://schemas.openxmlformats.org/drawingml/2006/main">
            <a:r>
              <a:rPr lang="en-US" sz="1600" b="1">
                <a:solidFill>
                  <a:srgbClr val="FFFFFF"/>
                </a:solidFill>
              </a:rPr>
              <a:t>(rag_engine.py)</a:t>
            </a:r>
          </a:p>
        </p:txBody>
      </p:sp>
      <p:sp>
        <p:nvSpPr>
          <p:cNvPr id="100014" name="Layer4"/>
          <p:cNvSpPr txBox="1"/>
          <p:nvPr/>
        </p:nvSpPr>
        <p:spPr>
          <a:xfrm xmlns:a="http://schemas.openxmlformats.org/drawingml/2006/main">
            <a:off x="540000" y="2700000"/>
            <a:ext cx="5040000" cy="900000"/>
          </a:xfrm>
          <a:prstGeom xmlns:a="http://schemas.openxmlformats.org/drawingml/2006/main" prst="rect">
            <a:avLst/>
          </a:prstGeom>
          <a:solidFill xmlns:a="http://schemas.openxmlformats.org/drawingml/2006/main">
            <a:srgbClr val="0A2540"/>
          </a:solidFill>
        </p:spPr>
        <p:txBody>
          <a:bodyPr xmlns:a="http://schemas.openxmlformats.org/drawingml/2006/main"/>
          <a:lstStyle xmlns:a="http://schemas.openxmlformats.org/drawingml/2006/main"/>
          <a:p xmlns:a="http://schemas.openxmlformats.org/drawingml/2006/main">
            <a:r>
              <a:rPr lang="en-US" sz="1600" b="1">
                <a:solidFill>
                  <a:srgbClr val="FFFFFF"/>
                </a:solidFill>
              </a:rPr>
              <a:t>IBM GRANITE LLM</a:t>
            </a:r>
          </a:p>
          <a:p xmlns:a="http://schemas.openxmlformats.org/drawingml/2006/main">
            <a:r>
              <a:rPr lang="en-US" sz="1600" b="1">
                <a:solidFill>
                  <a:srgbClr val="FFFFFF"/>
                </a:solidFill>
              </a:rPr>
              <a:t>(ibm/granite-13b-instruct-v2)</a:t>
            </a:r>
          </a:p>
          <a:p xmlns:a="http://schemas.openxmlformats.org/drawingml/2006/main">
            <a:r>
              <a:rPr lang="en-US" sz="1600" b="1">
                <a:solidFill>
                  <a:srgbClr val="FFFFFF"/>
                </a:solidFill>
              </a:rPr>
              <a:t>via watsonx.ai</a:t>
            </a:r>
          </a:p>
        </p:txBody>
      </p:sp>
      <p:sp>
        <p:nvSpPr>
          <p:cNvPr id="100015" name="Arrow3"/>
          <p:cNvSpPr txBox="1"/>
          <p:nvPr/>
        </p:nvSpPr>
        <p:spPr>
          <a:xfrm xmlns:a="http://schemas.openxmlformats.org/drawingml/2006/main">
            <a:off x="1440000" y="2232000"/>
            <a:ext cx="54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a:solidFill>
                  <a:srgbClr val="0A2540"/>
                </a:solidFill>
              </a:rPr>
              <a:t>▼</a:t>
            </a:r>
          </a:p>
        </p:txBody>
      </p:sp>
      <p:sp>
        <p:nvSpPr>
          <p:cNvPr id="100016" name="Layer5"/>
          <p:cNvSpPr txBox="1"/>
          <p:nvPr/>
        </p:nvSpPr>
        <p:spPr>
          <a:xfrm xmlns:a="http://schemas.openxmlformats.org/drawingml/2006/main">
            <a:off x="6120000" y="2700000"/>
            <a:ext cx="5400000" cy="900000"/>
          </a:xfrm>
          <a:prstGeom xmlns:a="http://schemas.openxmlformats.org/drawingml/2006/main" prst="rect">
            <a:avLst/>
          </a:prstGeom>
          <a:solidFill xmlns:a="http://schemas.openxmlformats.org/drawingml/2006/main">
            <a:srgbClr val="7C5CD8"/>
          </a:solidFill>
        </p:spPr>
        <p:txBody>
          <a:bodyPr xmlns:a="http://schemas.openxmlformats.org/drawingml/2006/main"/>
          <a:lstStyle xmlns:a="http://schemas.openxmlformats.org/drawingml/2006/main"/>
          <a:p xmlns:a="http://schemas.openxmlformats.org/drawingml/2006/main">
            <a:r>
              <a:rPr lang="en-US" sz="1500" b="1">
                <a:solidFill>
                  <a:srgbClr val="FFFFFF"/>
                </a:solidFill>
              </a:rPr>
              <a:t>MULTI-TURN CONVERSATION MANAGER</a:t>
            </a:r>
          </a:p>
          <a:p xmlns:a="http://schemas.openxmlformats.org/drawingml/2006/main">
            <a:r>
              <a:rPr lang="en-US" sz="1500" b="1">
                <a:solidFill>
                  <a:srgbClr val="FFFFFF"/>
                </a:solidFill>
              </a:rPr>
              <a:t>(agent.py  ·  SYSTEM_PROMPT_TEMPLATE)</a:t>
            </a:r>
          </a:p>
        </p:txBody>
      </p:sp>
      <p:sp>
        <p:nvSpPr>
          <p:cNvPr id="100017" name="Output"/>
          <p:cNvSpPr txBox="1"/>
          <p:nvPr/>
        </p:nvSpPr>
        <p:spPr>
          <a:xfrm xmlns:a="http://schemas.openxmlformats.org/drawingml/2006/main">
            <a:off x="540000" y="4320000"/>
            <a:ext cx="10800000" cy="720000"/>
          </a:xfrm>
          <a:prstGeom xmlns:a="http://schemas.openxmlformats.org/drawingml/2006/main" prst="rect">
            <a:avLst/>
          </a:prstGeom>
          <a:solidFill xmlns:a="http://schemas.openxmlformats.org/drawingml/2006/main">
            <a:srgbClr val="3B82D4"/>
          </a:solidFill>
        </p:spPr>
        <p:txBody>
          <a:bodyPr xmlns:a="http://schemas.openxmlformats.org/drawingml/2006/main"/>
          <a:lstStyle xmlns:a="http://schemas.openxmlformats.org/drawingml/2006/main"/>
          <a:p xmlns:a="http://schemas.openxmlformats.org/drawingml/2006/main">
            <a:r>
              <a:rPr lang="en-US" sz="1600" b="1">
                <a:solidFill>
                  <a:srgbClr val="FFFFFF"/>
                </a:solidFill>
              </a:rPr>
              <a:t>EMPATHETIC RESPONSE  +  CRISIS RESOURCES  +  MEDICAL DISCLAIMER</a:t>
            </a:r>
          </a:p>
        </p:txBody>
      </p:sp>
    </p:spTree>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18" name="Heade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0A2540"/>
          </a:solidFill>
        </p:spPr>
        <p:txBody>
          <a:bodyPr xmlns:a="http://schemas.openxmlformats.org/drawingml/2006/main"/>
          <a:lstStyle xmlns:a="http://schemas.openxmlformats.org/drawingml/2006/main"/>
          <a:p xmlns:a="http://schemas.openxmlformats.org/drawingml/2006/main">
            <a:endParaRPr lang="en-US" sz="3600" b="1">
              <a:solidFill>
                <a:srgbClr val="FFFFFF"/>
              </a:solidFill>
            </a:endParaRPr>
          </a:p>
        </p:txBody>
      </p:sp>
      <p:sp>
        <p:nvSpPr>
          <p:cNvPr id="100019" name="Title"/>
          <p:cNvSpPr txBox="1"/>
          <p:nvPr/>
        </p:nvSpPr>
        <p:spPr>
          <a:xfrm xmlns:a="http://schemas.openxmlformats.org/drawingml/2006/main">
            <a:off x="540000" y="144000"/>
            <a:ext cx="108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Core Modules</a:t>
            </a:r>
          </a:p>
        </p:txBody>
      </p:sp>
      <p:sp>
        <p:nvSpPr>
          <p:cNvPr id="100020" name="M1"/>
          <p:cNvSpPr txBox="1"/>
          <p:nvPr/>
        </p:nvSpPr>
        <p:spPr>
          <a:xfrm xmlns:a="http://schemas.openxmlformats.org/drawingml/2006/main">
            <a:off x="540000" y="1260000"/>
            <a:ext cx="3420000" cy="540000"/>
          </a:xfrm>
          <a:prstGeom xmlns:a="http://schemas.openxmlformats.org/drawingml/2006/main" prst="rect">
            <a:avLst/>
          </a:prstGeom>
          <a:solidFill xmlns:a="http://schemas.openxmlformats.org/drawingml/2006/main">
            <a:srgbClr val="0A2540"/>
          </a:solidFill>
        </p:spPr>
        <p:txBody>
          <a:bodyPr xmlns:a="http://schemas.openxmlformats.org/drawingml/2006/main"/>
          <a:lstStyle xmlns:a="http://schemas.openxmlformats.org/drawingml/2006/main"/>
          <a:p xmlns:a="http://schemas.openxmlformats.org/drawingml/2006/main">
            <a:r>
              <a:rPr lang="en-US" sz="1800" b="1">
                <a:solidFill>
                  <a:srgbClr val="FFFFFF"/>
                </a:solidFill>
              </a:rPr>
              <a:t>agent.py</a:t>
            </a:r>
          </a:p>
          <a:p xmlns:a="http://schemas.openxmlformats.org/drawingml/2006/main">
            <a:r>
              <a:rPr lang="en-US" sz="1800" b="1">
                <a:solidFill>
                  <a:srgbClr val="FFFFFF"/>
                </a:solidFill>
              </a:rPr>
              <a:t>Orchestrator</a:t>
            </a:r>
          </a:p>
        </p:txBody>
      </p:sp>
      <p:sp>
        <p:nvSpPr>
          <p:cNvPr id="100021" name="M1D"/>
          <p:cNvSpPr txBox="1"/>
          <p:nvPr/>
        </p:nvSpPr>
        <p:spPr>
          <a:xfrm xmlns:a="http://schemas.openxmlformats.org/drawingml/2006/main">
            <a:off x="540000" y="1872000"/>
            <a:ext cx="3420000" cy="3240000"/>
          </a:xfrm>
          <a:prstGeom xmlns:a="http://schemas.openxmlformats.org/drawingml/2006/main" prst="rect">
            <a:avLst/>
          </a:prstGeom>
          <a:solidFill xmlns:a="http://schemas.openxmlformats.org/drawingml/2006/main">
            <a:srgbClr val="F7F8FA"/>
          </a:solidFill>
        </p:spPr>
        <p:txBody>
          <a:bodyPr xmlns:a="http://schemas.openxmlformats.org/drawingml/2006/main"/>
          <a:lstStyle xmlns:a="http://schemas.openxmlformats.org/drawingml/2006/main"/>
          <a:p xmlns:a="http://schemas.openxmlformats.org/drawingml/2006/main">
            <a:r>
              <a:rPr lang="en-US" sz="1400">
                <a:solidFill>
                  <a:srgbClr val="1F2328"/>
                </a:solidFill>
              </a:rPr>
              <a:t>• Connects to IBM watsonx.ai via Credentials + ModelInference</a:t>
            </a:r>
          </a:p>
          <a:p xmlns:a="http://schemas.openxmlformats.org/drawingml/2006/main">
            <a:r>
              <a:rPr lang="en-US" sz="1400">
                <a:solidFill>
                  <a:srgbClr val="1F2328"/>
                </a:solidFill>
              </a:rPr>
              <a:t>• Manages multi-turn conversation history</a:t>
            </a:r>
          </a:p>
          <a:p xmlns:a="http://schemas.openxmlformats.org/drawingml/2006/main">
            <a:r>
              <a:rPr lang="en-US" sz="1400">
                <a:solidFill>
                  <a:srgbClr val="1F2328"/>
                </a:solidFill>
              </a:rPr>
              <a:t>• Injects SYSTEM_PROMPT_TEMPLATE with RAG context</a:t>
            </a:r>
          </a:p>
          <a:p xmlns:a="http://schemas.openxmlformats.org/drawingml/2006/main">
            <a:r>
              <a:rPr lang="en-US" sz="1400">
                <a:solidFill>
                  <a:srgbClr val="1F2328"/>
                </a:solidFill>
              </a:rPr>
              <a:t>• Appends crisis resources when HIGH risk detected</a:t>
            </a:r>
          </a:p>
          <a:p xmlns:a="http://schemas.openxmlformats.org/drawingml/2006/main">
            <a:r>
              <a:rPr lang="en-US" sz="1400">
                <a:solidFill>
                  <a:srgbClr val="1F2328"/>
                </a:solidFill>
              </a:rPr>
              <a:t>• Appends MEDICAL_DISCLAIMER on every response</a:t>
            </a:r>
          </a:p>
          <a:p xmlns:a="http://schemas.openxmlformats.org/drawingml/2006/main">
            <a:r>
              <a:rPr lang="en-US" sz="1400">
                <a:solidFill>
                  <a:srgbClr val="1F2328"/>
                </a:solidFill>
              </a:rPr>
              <a:t>• Generation params: temp=0.75, top_p=0.9, max_tokens=600</a:t>
            </a:r>
          </a:p>
        </p:txBody>
      </p:sp>
      <p:sp>
        <p:nvSpPr>
          <p:cNvPr id="100022" name="M2"/>
          <p:cNvSpPr txBox="1"/>
          <p:nvPr/>
        </p:nvSpPr>
        <p:spPr>
          <a:xfrm xmlns:a="http://schemas.openxmlformats.org/drawingml/2006/main">
            <a:off x="4392000" y="1260000"/>
            <a:ext cx="3420000" cy="540000"/>
          </a:xfrm>
          <a:prstGeom xmlns:a="http://schemas.openxmlformats.org/drawingml/2006/main" prst="rect">
            <a:avLst/>
          </a:prstGeom>
          <a:solidFill xmlns:a="http://schemas.openxmlformats.org/drawingml/2006/main">
            <a:srgbClr val="27AE60"/>
          </a:solidFill>
        </p:spPr>
        <p:txBody>
          <a:bodyPr xmlns:a="http://schemas.openxmlformats.org/drawingml/2006/main"/>
          <a:lstStyle xmlns:a="http://schemas.openxmlformats.org/drawingml/2006/main"/>
          <a:p xmlns:a="http://schemas.openxmlformats.org/drawingml/2006/main">
            <a:r>
              <a:rPr lang="en-US" sz="1800" b="1">
                <a:solidFill>
                  <a:srgbClr val="FFFFFF"/>
                </a:solidFill>
              </a:rPr>
              <a:t>rag_engine.py</a:t>
            </a:r>
          </a:p>
          <a:p xmlns:a="http://schemas.openxmlformats.org/drawingml/2006/main">
            <a:r>
              <a:rPr lang="en-US" sz="1800" b="1">
                <a:solidFill>
                  <a:srgbClr val="FFFFFF"/>
                </a:solidFill>
              </a:rPr>
              <a:t>Retrieval Engine</a:t>
            </a:r>
          </a:p>
        </p:txBody>
      </p:sp>
      <p:sp>
        <p:nvSpPr>
          <p:cNvPr id="100023" name="M2D"/>
          <p:cNvSpPr txBox="1"/>
          <p:nvPr/>
        </p:nvSpPr>
        <p:spPr>
          <a:xfrm xmlns:a="http://schemas.openxmlformats.org/drawingml/2006/main">
            <a:off x="4392000" y="1872000"/>
            <a:ext cx="3420000" cy="3240000"/>
          </a:xfrm>
          <a:prstGeom xmlns:a="http://schemas.openxmlformats.org/drawingml/2006/main" prst="rect">
            <a:avLst/>
          </a:prstGeom>
          <a:solidFill xmlns:a="http://schemas.openxmlformats.org/drawingml/2006/main">
            <a:srgbClr val="F7F8FA"/>
          </a:solidFill>
        </p:spPr>
        <p:txBody>
          <a:bodyPr xmlns:a="http://schemas.openxmlformats.org/drawingml/2006/main"/>
          <a:lstStyle xmlns:a="http://schemas.openxmlformats.org/drawingml/2006/main"/>
          <a:p xmlns:a="http://schemas.openxmlformats.org/drawingml/2006/main">
            <a:r>
              <a:rPr lang="en-US" sz="1400">
                <a:solidFill>
                  <a:srgbClr val="1F2328"/>
                </a:solidFill>
              </a:rPr>
              <a:t>• FAISS IndexFlatL2 for semantic vector search</a:t>
            </a:r>
          </a:p>
          <a:p xmlns:a="http://schemas.openxmlformats.org/drawingml/2006/main">
            <a:r>
              <a:rPr lang="en-US" sz="1400">
                <a:solidFill>
                  <a:srgbClr val="1F2328"/>
                </a:solidFill>
              </a:rPr>
              <a:t>• SentenceTransformer: all-MiniLM-L6-v2</a:t>
            </a:r>
          </a:p>
          <a:p xmlns:a="http://schemas.openxmlformats.org/drawingml/2006/main">
            <a:r>
              <a:rPr lang="en-US" sz="1400">
                <a:solidFill>
                  <a:srgbClr val="1F2328"/>
                </a:solidFill>
              </a:rPr>
              <a:t>• Persists index to data/faiss_index.pkl</a:t>
            </a:r>
          </a:p>
          <a:p xmlns:a="http://schemas.openxmlformats.org/drawingml/2006/main">
            <a:r>
              <a:rPr lang="en-US" sz="1400">
                <a:solidFill>
                  <a:srgbClr val="1F2328"/>
                </a:solidFill>
              </a:rPr>
              <a:t>• retrieve_context() returns top-k docs with relevance scores</a:t>
            </a:r>
          </a:p>
          <a:p xmlns:a="http://schemas.openxmlformats.org/drawingml/2006/main">
            <a:r>
              <a:rPr lang="en-US" sz="1400">
                <a:solidFill>
                  <a:srgbClr val="1F2328"/>
                </a:solidFill>
              </a:rPr>
              <a:t>• Keyword fallback when FAISS unavailable</a:t>
            </a:r>
          </a:p>
          <a:p xmlns:a="http://schemas.openxmlformats.org/drawingml/2006/main">
            <a:r>
              <a:rPr lang="en-US" sz="1400">
                <a:solidFill>
                  <a:srgbClr val="1F2328"/>
                </a:solidFill>
              </a:rPr>
              <a:t>• format_context_for_prompt() formats docs for LLM injection</a:t>
            </a:r>
          </a:p>
        </p:txBody>
      </p:sp>
      <p:sp>
        <p:nvSpPr>
          <p:cNvPr id="100024" name="M3"/>
          <p:cNvSpPr txBox="1"/>
          <p:nvPr/>
        </p:nvSpPr>
        <p:spPr>
          <a:xfrm xmlns:a="http://schemas.openxmlformats.org/drawingml/2006/main">
            <a:off x="8280000" y="1260000"/>
            <a:ext cx="3420000" cy="540000"/>
          </a:xfrm>
          <a:prstGeom xmlns:a="http://schemas.openxmlformats.org/drawingml/2006/main" prst="rect">
            <a:avLst/>
          </a:prstGeom>
          <a:solidFill xmlns:a="http://schemas.openxmlformats.org/drawingml/2006/main">
            <a:srgbClr val="E74C3C"/>
          </a:solidFill>
        </p:spPr>
        <p:txBody>
          <a:bodyPr xmlns:a="http://schemas.openxmlformats.org/drawingml/2006/main"/>
          <a:lstStyle xmlns:a="http://schemas.openxmlformats.org/drawingml/2006/main"/>
          <a:p xmlns:a="http://schemas.openxmlformats.org/drawingml/2006/main">
            <a:r>
              <a:rPr lang="en-US" sz="1800" b="1">
                <a:solidFill>
                  <a:srgbClr val="FFFFFF"/>
                </a:solidFill>
              </a:rPr>
              <a:t>knowledge_base.py</a:t>
            </a:r>
          </a:p>
          <a:p xmlns:a="http://schemas.openxmlformats.org/drawingml/2006/main">
            <a:r>
              <a:rPr lang="en-US" sz="1800" b="1">
                <a:solidFill>
                  <a:srgbClr val="FFFFFF"/>
                </a:solidFill>
              </a:rPr>
              <a:t>Content &amp; Triage</a:t>
            </a:r>
          </a:p>
        </p:txBody>
      </p:sp>
      <p:sp>
        <p:nvSpPr>
          <p:cNvPr id="100025" name="M3D"/>
          <p:cNvSpPr txBox="1"/>
          <p:nvPr/>
        </p:nvSpPr>
        <p:spPr>
          <a:xfrm xmlns:a="http://schemas.openxmlformats.org/drawingml/2006/main">
            <a:off x="8280000" y="1872000"/>
            <a:ext cx="3420000" cy="3240000"/>
          </a:xfrm>
          <a:prstGeom xmlns:a="http://schemas.openxmlformats.org/drawingml/2006/main" prst="rect">
            <a:avLst/>
          </a:prstGeom>
          <a:solidFill xmlns:a="http://schemas.openxmlformats.org/drawingml/2006/main">
            <a:srgbClr val="F7F8FA"/>
          </a:solidFill>
        </p:spPr>
        <p:txBody>
          <a:bodyPr xmlns:a="http://schemas.openxmlformats.org/drawingml/2006/main"/>
          <a:lstStyle xmlns:a="http://schemas.openxmlformats.org/drawingml/2006/main"/>
          <a:p xmlns:a="http://schemas.openxmlformats.org/drawingml/2006/main">
            <a:r>
              <a:rPr lang="en-US" sz="1400">
                <a:solidFill>
                  <a:srgbClr val="1F2328"/>
                </a:solidFill>
              </a:rPr>
              <a:t>• 13 curated mental health documents across 8 categories</a:t>
            </a:r>
          </a:p>
          <a:p xmlns:a="http://schemas.openxmlformats.org/drawingml/2006/main">
            <a:r>
              <a:rPr lang="en-US" sz="1400">
                <a:solidFill>
                  <a:srgbClr val="1F2328"/>
                </a:solidFill>
              </a:rPr>
              <a:t>• Categories: depression, anxiety, suicide prevention, mindfulness, self-care, stress, trauma, peer support</a:t>
            </a:r>
          </a:p>
          <a:p xmlns:a="http://schemas.openxmlformats.org/drawingml/2006/main">
            <a:r>
              <a:rPr lang="en-US" sz="1400">
                <a:solidFill>
                  <a:srgbClr val="1F2328"/>
                </a:solidFill>
              </a:rPr>
              <a:t>• HIGH risk: 20 crisis keyword phrases</a:t>
            </a:r>
          </a:p>
          <a:p xmlns:a="http://schemas.openxmlformats.org/drawingml/2006/main">
            <a:r>
              <a:rPr lang="en-US" sz="1400">
                <a:solidFill>
                  <a:srgbClr val="1F2328"/>
                </a:solidFill>
              </a:rPr>
              <a:t>• MEDIUM risk: 14 distress keyword phrases</a:t>
            </a:r>
          </a:p>
          <a:p xmlns:a="http://schemas.openxmlformats.org/drawingml/2006/main">
            <a:r>
              <a:rPr lang="en-US" sz="1400">
                <a:solidFill>
                  <a:srgbClr val="1F2328"/>
                </a:solidFill>
              </a:rPr>
              <a:t>• assess_risk_level() returns HIGH / MEDIUM / LOW</a:t>
            </a:r>
          </a:p>
          <a:p xmlns:a="http://schemas.openxmlformats.org/drawingml/2006/main">
            <a:r>
              <a:rPr lang="en-US" sz="1400">
                <a:solidFill>
                  <a:srgbClr val="1F2328"/>
                </a:solidFill>
              </a:rPr>
              <a:t>• Integrated global crisis helpline directory</a:t>
            </a:r>
          </a:p>
        </p:txBody>
      </p:sp>
    </p:spTree>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26" name="Heade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27AE60"/>
          </a:solidFill>
        </p:spPr>
        <p:txBody>
          <a:bodyPr xmlns:a="http://schemas.openxmlformats.org/drawingml/2006/main"/>
          <a:lstStyle xmlns:a="http://schemas.openxmlformats.org/drawingml/2006/main"/>
          <a:p xmlns:a="http://schemas.openxmlformats.org/drawingml/2006/main">
            <a:endParaRPr lang="en-US" sz="3600" b="1">
              <a:solidFill>
                <a:srgbClr val="FFFFFF"/>
              </a:solidFill>
            </a:endParaRPr>
          </a:p>
        </p:txBody>
      </p:sp>
      <p:sp>
        <p:nvSpPr>
          <p:cNvPr id="100027" name="Title"/>
          <p:cNvSpPr txBox="1"/>
          <p:nvPr/>
        </p:nvSpPr>
        <p:spPr>
          <a:xfrm xmlns:a="http://schemas.openxmlformats.org/drawingml/2006/main">
            <a:off x="540000" y="144000"/>
            <a:ext cx="108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RAG Pipeline — How It Works</a:t>
            </a:r>
          </a:p>
        </p:txBody>
      </p:sp>
      <p:sp>
        <p:nvSpPr>
          <p:cNvPr id="100028" name="Step1"/>
          <p:cNvSpPr txBox="1"/>
          <p:nvPr/>
        </p:nvSpPr>
        <p:spPr>
          <a:xfrm xmlns:a="http://schemas.openxmlformats.org/drawingml/2006/main">
            <a:off x="540000" y="1260000"/>
            <a:ext cx="4680000" cy="432000"/>
          </a:xfrm>
          <a:prstGeom xmlns:a="http://schemas.openxmlformats.org/drawingml/2006/main" prst="rect">
            <a:avLst/>
          </a:prstGeom>
          <a:solidFill xmlns:a="http://schemas.openxmlformats.org/drawingml/2006/main">
            <a:srgbClr val="27AE60"/>
          </a:solidFill>
        </p:spPr>
        <p:txBody>
          <a:bodyPr xmlns:a="http://schemas.openxmlformats.org/drawingml/2006/main"/>
          <a:lstStyle xmlns:a="http://schemas.openxmlformats.org/drawingml/2006/main"/>
          <a:p xmlns:a="http://schemas.openxmlformats.org/drawingml/2006/main">
            <a:r>
              <a:rPr lang="en-US" sz="1700" b="1">
                <a:solidFill>
                  <a:srgbClr val="FFFFFF"/>
                </a:solidFill>
              </a:rPr>
              <a:t>1  EMBED KNOWLEDGE BASE</a:t>
            </a:r>
          </a:p>
        </p:txBody>
      </p:sp>
      <p:sp>
        <p:nvSpPr>
          <p:cNvPr id="100029" name="Step1D"/>
          <p:cNvSpPr txBox="1"/>
          <p:nvPr/>
        </p:nvSpPr>
        <p:spPr>
          <a:xfrm xmlns:a="http://schemas.openxmlformats.org/drawingml/2006/main">
            <a:off x="540000" y="1728000"/>
            <a:ext cx="4680000" cy="1080000"/>
          </a:xfrm>
          <a:prstGeom xmlns:a="http://schemas.openxmlformats.org/drawingml/2006/main" prst="rect">
            <a:avLst/>
          </a:prstGeom>
          <a:solidFill xmlns:a="http://schemas.openxmlformats.org/drawingml/2006/main">
            <a:srgbClr val="F7F8FA"/>
          </a:solidFill>
        </p:spPr>
        <p:txBody>
          <a:bodyPr xmlns:a="http://schemas.openxmlformats.org/drawingml/2006/main"/>
          <a:lstStyle xmlns:a="http://schemas.openxmlformats.org/drawingml/2006/main"/>
          <a:p xmlns:a="http://schemas.openxmlformats.org/drawingml/2006/main">
            <a:r>
              <a:rPr lang="en-US" sz="1400">
                <a:solidFill>
                  <a:srgbClr val="1F2328"/>
                </a:solidFill>
              </a:rPr>
              <a:t>13 documents → SentenceTransformer (all-MiniLM-L6-v2) → 384-dim float32 vectors → FAISS IndexFlatL2 → serialised to faiss_index.pkl</a:t>
            </a:r>
          </a:p>
        </p:txBody>
      </p:sp>
      <p:sp>
        <p:nvSpPr>
          <p:cNvPr id="100030" name="Step2"/>
          <p:cNvSpPr txBox="1"/>
          <p:nvPr/>
        </p:nvSpPr>
        <p:spPr>
          <a:xfrm xmlns:a="http://schemas.openxmlformats.org/drawingml/2006/main">
            <a:off x="5760000" y="1260000"/>
            <a:ext cx="4680000" cy="432000"/>
          </a:xfrm>
          <a:prstGeom xmlns:a="http://schemas.openxmlformats.org/drawingml/2006/main" prst="rect">
            <a:avLst/>
          </a:prstGeom>
          <a:solidFill xmlns:a="http://schemas.openxmlformats.org/drawingml/2006/main">
            <a:srgbClr val="27AE60"/>
          </a:solidFill>
        </p:spPr>
        <p:txBody>
          <a:bodyPr xmlns:a="http://schemas.openxmlformats.org/drawingml/2006/main"/>
          <a:lstStyle xmlns:a="http://schemas.openxmlformats.org/drawingml/2006/main"/>
          <a:p xmlns:a="http://schemas.openxmlformats.org/drawingml/2006/main">
            <a:r>
              <a:rPr lang="en-US" sz="1700" b="1">
                <a:solidFill>
                  <a:srgbClr val="FFFFFF"/>
                </a:solidFill>
              </a:rPr>
              <a:t>2  QUERY ENCODING</a:t>
            </a:r>
          </a:p>
        </p:txBody>
      </p:sp>
      <p:sp>
        <p:nvSpPr>
          <p:cNvPr id="100031" name="Step2D"/>
          <p:cNvSpPr txBox="1"/>
          <p:nvPr/>
        </p:nvSpPr>
        <p:spPr>
          <a:xfrm xmlns:a="http://schemas.openxmlformats.org/drawingml/2006/main">
            <a:off x="5760000" y="1728000"/>
            <a:ext cx="4680000" cy="1080000"/>
          </a:xfrm>
          <a:prstGeom xmlns:a="http://schemas.openxmlformats.org/drawingml/2006/main" prst="rect">
            <a:avLst/>
          </a:prstGeom>
          <a:solidFill xmlns:a="http://schemas.openxmlformats.org/drawingml/2006/main">
            <a:srgbClr val="F7F8FA"/>
          </a:solidFill>
        </p:spPr>
        <p:txBody>
          <a:bodyPr xmlns:a="http://schemas.openxmlformats.org/drawingml/2006/main"/>
          <a:lstStyle xmlns:a="http://schemas.openxmlformats.org/drawingml/2006/main"/>
          <a:p xmlns:a="http://schemas.openxmlformats.org/drawingml/2006/main">
            <a:r>
              <a:rPr lang="en-US" sz="1400">
                <a:solidFill>
                  <a:srgbClr val="1F2328"/>
                </a:solidFill>
              </a:rPr>
              <a:t>User message → encode with same SentenceTransformer → query vector (float32) → FAISS L2 search returns top-k nearest documents</a:t>
            </a:r>
          </a:p>
        </p:txBody>
      </p:sp>
      <p:sp>
        <p:nvSpPr>
          <p:cNvPr id="100032" name="Step3"/>
          <p:cNvSpPr txBox="1"/>
          <p:nvPr/>
        </p:nvSpPr>
        <p:spPr>
          <a:xfrm xmlns:a="http://schemas.openxmlformats.org/drawingml/2006/main">
            <a:off x="540000" y="3060000"/>
            <a:ext cx="4680000" cy="432000"/>
          </a:xfrm>
          <a:prstGeom xmlns:a="http://schemas.openxmlformats.org/drawingml/2006/main" prst="rect">
            <a:avLst/>
          </a:prstGeom>
          <a:solidFill xmlns:a="http://schemas.openxmlformats.org/drawingml/2006/main">
            <a:srgbClr val="27AE60"/>
          </a:solidFill>
        </p:spPr>
        <p:txBody>
          <a:bodyPr xmlns:a="http://schemas.openxmlformats.org/drawingml/2006/main"/>
          <a:lstStyle xmlns:a="http://schemas.openxmlformats.org/drawingml/2006/main"/>
          <a:p xmlns:a="http://schemas.openxmlformats.org/drawingml/2006/main">
            <a:r>
              <a:rPr lang="en-US" sz="1700" b="1">
                <a:solidFill>
                  <a:srgbClr val="FFFFFF"/>
                </a:solidFill>
              </a:rPr>
              <a:t>3  RELEVANCE SCORING</a:t>
            </a:r>
          </a:p>
        </p:txBody>
      </p:sp>
      <p:sp>
        <p:nvSpPr>
          <p:cNvPr id="100033" name="Step3D"/>
          <p:cNvSpPr txBox="1"/>
          <p:nvPr/>
        </p:nvSpPr>
        <p:spPr>
          <a:xfrm xmlns:a="http://schemas.openxmlformats.org/drawingml/2006/main">
            <a:off x="540000" y="3528000"/>
            <a:ext cx="4680000" cy="1080000"/>
          </a:xfrm>
          <a:prstGeom xmlns:a="http://schemas.openxmlformats.org/drawingml/2006/main" prst="rect">
            <a:avLst/>
          </a:prstGeom>
          <a:solidFill xmlns:a="http://schemas.openxmlformats.org/drawingml/2006/main">
            <a:srgbClr val="F7F8FA"/>
          </a:solidFill>
        </p:spPr>
        <p:txBody>
          <a:bodyPr xmlns:a="http://schemas.openxmlformats.org/drawingml/2006/main"/>
          <a:lstStyle xmlns:a="http://schemas.openxmlformats.org/drawingml/2006/main"/>
          <a:p xmlns:a="http://schemas.openxmlformats.org/drawingml/2006/main">
            <a:r>
              <a:rPr lang="en-US" sz="1400">
                <a:solidFill>
                  <a:srgbClr val="1F2328"/>
                </a:solidFill>
              </a:rPr>
              <a:t>score = 1 / (1 + L2_distance)</a:t>
            </a:r>
          </a:p>
          <a:p xmlns:a="http://schemas.openxmlformats.org/drawingml/2006/main">
            <a:r>
              <a:rPr lang="en-US" sz="1400">
                <a:solidFill>
                  <a:srgbClr val="1F2328"/>
                </a:solidFill>
              </a:rPr>
              <a:t>Documents ranked by semantic closeness</a:t>
            </a:r>
          </a:p>
          <a:p xmlns:a="http://schemas.openxmlformats.org/drawingml/2006/main">
            <a:r>
              <a:rPr lang="en-US" sz="1400">
                <a:solidFill>
                  <a:srgbClr val="1F2328"/>
                </a:solidFill>
              </a:rPr>
              <a:t>Fallback: keyword overlap scoring when FAISS unavailable</a:t>
            </a:r>
          </a:p>
        </p:txBody>
      </p:sp>
      <p:sp>
        <p:nvSpPr>
          <p:cNvPr id="100034" name="Step4"/>
          <p:cNvSpPr txBox="1"/>
          <p:nvPr/>
        </p:nvSpPr>
        <p:spPr>
          <a:xfrm xmlns:a="http://schemas.openxmlformats.org/drawingml/2006/main">
            <a:off x="5760000" y="3060000"/>
            <a:ext cx="4680000" cy="432000"/>
          </a:xfrm>
          <a:prstGeom xmlns:a="http://schemas.openxmlformats.org/drawingml/2006/main" prst="rect">
            <a:avLst/>
          </a:prstGeom>
          <a:solidFill xmlns:a="http://schemas.openxmlformats.org/drawingml/2006/main">
            <a:srgbClr val="27AE60"/>
          </a:solidFill>
        </p:spPr>
        <p:txBody>
          <a:bodyPr xmlns:a="http://schemas.openxmlformats.org/drawingml/2006/main"/>
          <a:lstStyle xmlns:a="http://schemas.openxmlformats.org/drawingml/2006/main"/>
          <a:p xmlns:a="http://schemas.openxmlformats.org/drawingml/2006/main">
            <a:r>
              <a:rPr lang="en-US" sz="1700" b="1">
                <a:solidFill>
                  <a:srgbClr val="FFFFFF"/>
                </a:solidFill>
              </a:rPr>
              <a:t>4  CONTEXT INJECTION</a:t>
            </a:r>
          </a:p>
        </p:txBody>
      </p:sp>
      <p:sp>
        <p:nvSpPr>
          <p:cNvPr id="100035" name="Step4D"/>
          <p:cNvSpPr txBox="1"/>
          <p:nvPr/>
        </p:nvSpPr>
        <p:spPr>
          <a:xfrm xmlns:a="http://schemas.openxmlformats.org/drawingml/2006/main">
            <a:off x="5760000" y="3528000"/>
            <a:ext cx="4680000" cy="1080000"/>
          </a:xfrm>
          <a:prstGeom xmlns:a="http://schemas.openxmlformats.org/drawingml/2006/main" prst="rect">
            <a:avLst/>
          </a:prstGeom>
          <a:solidFill xmlns:a="http://schemas.openxmlformats.org/drawingml/2006/main">
            <a:srgbClr val="F7F8FA"/>
          </a:solidFill>
        </p:spPr>
        <p:txBody>
          <a:bodyPr xmlns:a="http://schemas.openxmlformats.org/drawingml/2006/main"/>
          <a:lstStyle xmlns:a="http://schemas.openxmlformats.org/drawingml/2006/main"/>
          <a:p xmlns:a="http://schemas.openxmlformats.org/drawingml/2006/main">
            <a:r>
              <a:rPr lang="en-US" sz="1400">
                <a:solidFill>
                  <a:srgbClr val="1F2328"/>
                </a:solidFill>
              </a:rPr>
              <a:t>format_context_for_prompt() builds a RETRIEVED KNOWLEDGE BASE CONTEXT block injected into SYSTEM_PROMPT_TEMPLATE → Granite LLM generates grounded, evidence-based response</a:t>
            </a:r>
          </a:p>
        </p:txBody>
      </p:sp>
    </p:spTree>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36" name="Heade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E74C3C"/>
          </a:solidFill>
        </p:spPr>
        <p:txBody>
          <a:bodyPr xmlns:a="http://schemas.openxmlformats.org/drawingml/2006/main"/>
          <a:lstStyle xmlns:a="http://schemas.openxmlformats.org/drawingml/2006/main"/>
          <a:p xmlns:a="http://schemas.openxmlformats.org/drawingml/2006/main">
            <a:endParaRPr lang="en-US" sz="3600" b="1">
              <a:solidFill>
                <a:srgbClr val="FFFFFF"/>
              </a:solidFill>
            </a:endParaRPr>
          </a:p>
        </p:txBody>
      </p:sp>
      <p:sp>
        <p:nvSpPr>
          <p:cNvPr id="100037" name="Title"/>
          <p:cNvSpPr txBox="1"/>
          <p:nvPr/>
        </p:nvSpPr>
        <p:spPr>
          <a:xfrm xmlns:a="http://schemas.openxmlformats.org/drawingml/2006/main">
            <a:off x="540000" y="144000"/>
            <a:ext cx="108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Crisis Detection &amp; Safety Guardrails</a:t>
            </a:r>
          </a:p>
        </p:txBody>
      </p:sp>
      <p:sp>
        <p:nvSpPr>
          <p:cNvPr id="100038" name="HighRisk"/>
          <p:cNvSpPr txBox="1"/>
          <p:nvPr/>
        </p:nvSpPr>
        <p:spPr>
          <a:xfrm xmlns:a="http://schemas.openxmlformats.org/drawingml/2006/main">
            <a:off x="540000" y="1260000"/>
            <a:ext cx="10800000" cy="432000"/>
          </a:xfrm>
          <a:prstGeom xmlns:a="http://schemas.openxmlformats.org/drawingml/2006/main" prst="rect">
            <a:avLst/>
          </a:prstGeom>
          <a:solidFill xmlns:a="http://schemas.openxmlformats.org/drawingml/2006/main">
            <a:srgbClr val="E74C3C"/>
          </a:solidFill>
        </p:spPr>
        <p:txBody>
          <a:bodyPr xmlns:a="http://schemas.openxmlformats.org/drawingml/2006/main"/>
          <a:lstStyle xmlns:a="http://schemas.openxmlformats.org/drawingml/2006/main"/>
          <a:p xmlns:a="http://schemas.openxmlformats.org/drawingml/2006/main">
            <a:r>
              <a:rPr lang="en-US" sz="1800" b="1">
                <a:solidFill>
                  <a:srgbClr val="FFFFFF"/>
                </a:solidFill>
              </a:rPr>
              <a:t>HIGH RISK — Immediate Crisis Response</a:t>
            </a:r>
          </a:p>
        </p:txBody>
      </p:sp>
      <p:sp>
        <p:nvSpPr>
          <p:cNvPr id="100039" name="HighRiskD"/>
          <p:cNvSpPr txBox="1"/>
          <p:nvPr/>
        </p:nvSpPr>
        <p:spPr>
          <a:xfrm xmlns:a="http://schemas.openxmlformats.org/drawingml/2006/main">
            <a:off x="540000" y="1764000"/>
            <a:ext cx="10800000" cy="1368000"/>
          </a:xfrm>
          <a:prstGeom xmlns:a="http://schemas.openxmlformats.org/drawingml/2006/main" prst="rect">
            <a:avLst/>
          </a:prstGeom>
          <a:solidFill xmlns:a="http://schemas.openxmlformats.org/drawingml/2006/main">
            <a:srgbClr val="FFF5F5"/>
          </a:solidFill>
        </p:spPr>
        <p:txBody>
          <a:bodyPr xmlns:a="http://schemas.openxmlformats.org/drawingml/2006/main"/>
          <a:lstStyle xmlns:a="http://schemas.openxmlformats.org/drawingml/2006/main"/>
          <a:p xmlns:a="http://schemas.openxmlformats.org/drawingml/2006/main">
            <a:r>
              <a:rPr lang="en-US" sz="1500">
                <a:solidFill>
                  <a:srgbClr val="1F2328"/>
                </a:solidFill>
              </a:rPr>
              <a:t>Trigger phrases (20 patterns): "want to die", "kill myself", "suicide", "end my life", "hurt myself", "self-harm", "overdose", "can't go on", "nobody would miss me", "burden to everyone" + more</a:t>
            </a:r>
          </a:p>
          <a:p xmlns:a="http://schemas.openxmlformats.org/drawingml/2006/main">
            <a:r>
              <a:rPr lang="en-US" sz="1500">
                <a:solidFill>
                  <a:srgbClr val="1F2328"/>
                </a:solidFill>
              </a:rPr>
              <a:t>→ Immediate 24/7 helplines appended: 988 (USA), 741741 (Crisis Text), iCall India, Samaritans UK, Canada, Lifeline AU</a:t>
            </a:r>
          </a:p>
        </p:txBody>
      </p:sp>
      <p:sp>
        <p:nvSpPr>
          <p:cNvPr id="100040" name="MedRisk"/>
          <p:cNvSpPr txBox="1"/>
          <p:nvPr/>
        </p:nvSpPr>
        <p:spPr>
          <a:xfrm xmlns:a="http://schemas.openxmlformats.org/drawingml/2006/main">
            <a:off x="540000" y="3240000"/>
            <a:ext cx="10800000" cy="432000"/>
          </a:xfrm>
          <a:prstGeom xmlns:a="http://schemas.openxmlformats.org/drawingml/2006/main" prst="rect">
            <a:avLst/>
          </a:prstGeom>
          <a:solidFill xmlns:a="http://schemas.openxmlformats.org/drawingml/2006/main">
            <a:srgbClr val="E67E22"/>
          </a:solidFill>
        </p:spPr>
        <p:txBody>
          <a:bodyPr xmlns:a="http://schemas.openxmlformats.org/drawingml/2006/main"/>
          <a:lstStyle xmlns:a="http://schemas.openxmlformats.org/drawingml/2006/main"/>
          <a:p xmlns:a="http://schemas.openxmlformats.org/drawingml/2006/main">
            <a:r>
              <a:rPr lang="en-US" sz="1800" b="1">
                <a:solidFill>
                  <a:srgbClr val="FFFFFF"/>
                </a:solidFill>
              </a:rPr>
              <a:t>MEDIUM RISK — Empathetic Concern + Resource Guidance</a:t>
            </a:r>
          </a:p>
        </p:txBody>
      </p:sp>
      <p:sp>
        <p:nvSpPr>
          <p:cNvPr id="100041" name="MedRiskD"/>
          <p:cNvSpPr txBox="1"/>
          <p:nvPr/>
        </p:nvSpPr>
        <p:spPr>
          <a:xfrm xmlns:a="http://schemas.openxmlformats.org/drawingml/2006/main">
            <a:off x="540000" y="3744000"/>
            <a:ext cx="10800000" cy="1080000"/>
          </a:xfrm>
          <a:prstGeom xmlns:a="http://schemas.openxmlformats.org/drawingml/2006/main" prst="rect">
            <a:avLst/>
          </a:prstGeom>
          <a:solidFill xmlns:a="http://schemas.openxmlformats.org/drawingml/2006/main">
            <a:srgbClr val="FFFBF5"/>
          </a:solidFill>
        </p:spPr>
        <p:txBody>
          <a:bodyPr xmlns:a="http://schemas.openxmlformats.org/drawingml/2006/main"/>
          <a:lstStyle xmlns:a="http://schemas.openxmlformats.org/drawingml/2006/main"/>
          <a:p xmlns:a="http://schemas.openxmlformats.org/drawingml/2006/main">
            <a:r>
              <a:rPr lang="en-US" sz="1500">
                <a:solidFill>
                  <a:srgbClr val="1F2328"/>
                </a:solidFill>
              </a:rPr>
              <a:t>Trigger phrases (14 patterns): "hopeless", "worthless", "helpless", "trapped", "feel nothing", "feel empty", "numb inside", "don't see the point", "feel like a failure" + more</a:t>
            </a:r>
          </a:p>
          <a:p xmlns:a="http://schemas.openxmlformats.org/drawingml/2006/main">
            <a:r>
              <a:rPr lang="en-US" sz="1500">
                <a:solidFill>
                  <a:srgbClr val="1F2328"/>
                </a:solidFill>
              </a:rPr>
              <a:t>→ Empathetic response with gentle encouragement to seek professional support</a:t>
            </a:r>
          </a:p>
        </p:txBody>
      </p:sp>
      <p:sp>
        <p:nvSpPr>
          <p:cNvPr id="100042" name="EthicsBar"/>
          <p:cNvSpPr txBox="1"/>
          <p:nvPr/>
        </p:nvSpPr>
        <p:spPr>
          <a:xfrm xmlns:a="http://schemas.openxmlformats.org/drawingml/2006/main">
            <a:off x="540000" y="5040000"/>
            <a:ext cx="10800000" cy="540000"/>
          </a:xfrm>
          <a:prstGeom xmlns:a="http://schemas.openxmlformats.org/drawingml/2006/main" prst="rect">
            <a:avLst/>
          </a:prstGeom>
          <a:solidFill xmlns:a="http://schemas.openxmlformats.org/drawingml/2006/main">
            <a:srgbClr val="0A2540"/>
          </a:solidFill>
        </p:spPr>
        <p:txBody>
          <a:bodyPr xmlns:a="http://schemas.openxmlformats.org/drawingml/2006/main"/>
          <a:lstStyle xmlns:a="http://schemas.openxmlformats.org/drawingml/2006/main"/>
          <a:p xmlns:a="http://schemas.openxmlformats.org/drawingml/2006/main">
            <a:r>
              <a:rPr lang="en-US" sz="1400" b="1">
                <a:solidFill>
                  <a:srgbClr val="FFFFFF"/>
                </a:solidFill>
              </a:rPr>
              <a:t>ETHICS GUARDRAILS  |  Never suggest harmful actions  ·  Never diagnose  ·  Always recommend professionals  ·  Person-first language</a:t>
            </a:r>
          </a:p>
        </p:txBody>
      </p:sp>
    </p:spTree>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43" name="Heade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7C5CD8"/>
          </a:solidFill>
        </p:spPr>
        <p:txBody>
          <a:bodyPr xmlns:a="http://schemas.openxmlformats.org/drawingml/2006/main"/>
          <a:lstStyle xmlns:a="http://schemas.openxmlformats.org/drawingml/2006/main"/>
          <a:p xmlns:a="http://schemas.openxmlformats.org/drawingml/2006/main">
            <a:endParaRPr lang="en-US" sz="3600" b="1">
              <a:solidFill>
                <a:srgbClr val="FFFFFF"/>
              </a:solidFill>
            </a:endParaRPr>
          </a:p>
        </p:txBody>
      </p:sp>
      <p:sp>
        <p:nvSpPr>
          <p:cNvPr id="100044" name="Title"/>
          <p:cNvSpPr txBox="1"/>
          <p:nvPr/>
        </p:nvSpPr>
        <p:spPr>
          <a:xfrm xmlns:a="http://schemas.openxmlformats.org/drawingml/2006/main">
            <a:off x="540000" y="144000"/>
            <a:ext cx="108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Knowledge Base — 8 Categories</a:t>
            </a:r>
          </a:p>
        </p:txBody>
      </p:sp>
      <p:sp>
        <p:nvSpPr>
          <p:cNvPr id="100045" name="Cat1"/>
          <p:cNvSpPr txBox="1"/>
          <p:nvPr/>
        </p:nvSpPr>
        <p:spPr>
          <a:xfrm xmlns:a="http://schemas.openxmlformats.org/drawingml/2006/main">
            <a:off x="540000" y="1260000"/>
            <a:ext cx="2520000" cy="900000"/>
          </a:xfrm>
          <a:prstGeom xmlns:a="http://schemas.openxmlformats.org/drawingml/2006/main" prst="rect">
            <a:avLst/>
          </a:prstGeom>
          <a:solidFill xmlns:a="http://schemas.openxmlformats.org/drawingml/2006/main">
            <a:srgbClr val="3B82D4"/>
          </a:solidFill>
        </p:spPr>
        <p:txBody>
          <a:bodyPr xmlns:a="http://schemas.openxmlformats.org/drawingml/2006/main"/>
          <a:lstStyle xmlns:a="http://schemas.openxmlformats.org/drawingml/2006/main"/>
          <a:p xmlns:a="http://schemas.openxmlformats.org/drawingml/2006/main">
            <a:r>
              <a:rPr lang="en-US" sz="1500" b="1">
                <a:solidFill>
                  <a:srgbClr val="FFFFFF"/>
                </a:solidFill>
              </a:rPr>
              <a:t>Depression</a:t>
            </a:r>
          </a:p>
          <a:p xmlns:a="http://schemas.openxmlformats.org/drawingml/2006/main">
            <a:r>
              <a:rPr lang="en-US" sz="1500" b="1">
                <a:solidFill>
                  <a:srgbClr val="FFFFFF"/>
                </a:solidFill>
              </a:rPr>
              <a:t>mh_001, mh_002</a:t>
            </a:r>
          </a:p>
        </p:txBody>
      </p:sp>
      <p:sp>
        <p:nvSpPr>
          <p:cNvPr id="100046" name="Cat2"/>
          <p:cNvSpPr txBox="1"/>
          <p:nvPr/>
        </p:nvSpPr>
        <p:spPr>
          <a:xfrm xmlns:a="http://schemas.openxmlformats.org/drawingml/2006/main">
            <a:off x="3420000" y="1260000"/>
            <a:ext cx="2520000" cy="900000"/>
          </a:xfrm>
          <a:prstGeom xmlns:a="http://schemas.openxmlformats.org/drawingml/2006/main" prst="rect">
            <a:avLst/>
          </a:prstGeom>
          <a:solidFill xmlns:a="http://schemas.openxmlformats.org/drawingml/2006/main">
            <a:srgbClr val="E74C3C"/>
          </a:solidFill>
        </p:spPr>
        <p:txBody>
          <a:bodyPr xmlns:a="http://schemas.openxmlformats.org/drawingml/2006/main"/>
          <a:lstStyle xmlns:a="http://schemas.openxmlformats.org/drawingml/2006/main"/>
          <a:p xmlns:a="http://schemas.openxmlformats.org/drawingml/2006/main">
            <a:r>
              <a:rPr lang="en-US" sz="1500" b="1">
                <a:solidFill>
                  <a:srgbClr val="FFFFFF"/>
                </a:solidFill>
              </a:rPr>
              <a:t>Anxiety</a:t>
            </a:r>
          </a:p>
          <a:p xmlns:a="http://schemas.openxmlformats.org/drawingml/2006/main">
            <a:r>
              <a:rPr lang="en-US" sz="1500" b="1">
                <a:solidFill>
                  <a:srgbClr val="FFFFFF"/>
                </a:solidFill>
              </a:rPr>
              <a:t>mh_003, mh_004</a:t>
            </a:r>
          </a:p>
        </p:txBody>
      </p:sp>
      <p:sp>
        <p:nvSpPr>
          <p:cNvPr id="100047" name="Cat3"/>
          <p:cNvSpPr txBox="1"/>
          <p:nvPr/>
        </p:nvSpPr>
        <p:spPr>
          <a:xfrm xmlns:a="http://schemas.openxmlformats.org/drawingml/2006/main">
            <a:off x="6300000" y="1260000"/>
            <a:ext cx="2520000" cy="900000"/>
          </a:xfrm>
          <a:prstGeom xmlns:a="http://schemas.openxmlformats.org/drawingml/2006/main" prst="rect">
            <a:avLst/>
          </a:prstGeom>
          <a:solidFill xmlns:a="http://schemas.openxmlformats.org/drawingml/2006/main">
            <a:srgbClr val="E67E22"/>
          </a:solidFill>
        </p:spPr>
        <p:txBody>
          <a:bodyPr xmlns:a="http://schemas.openxmlformats.org/drawingml/2006/main"/>
          <a:lstStyle xmlns:a="http://schemas.openxmlformats.org/drawingml/2006/main"/>
          <a:p xmlns:a="http://schemas.openxmlformats.org/drawingml/2006/main">
            <a:r>
              <a:rPr lang="en-US" sz="1500" b="1">
                <a:solidFill>
                  <a:srgbClr val="FFFFFF"/>
                </a:solidFill>
              </a:rPr>
              <a:t>Suicide Prevention</a:t>
            </a:r>
          </a:p>
          <a:p xmlns:a="http://schemas.openxmlformats.org/drawingml/2006/main">
            <a:r>
              <a:rPr lang="en-US" sz="1500" b="1">
                <a:solidFill>
                  <a:srgbClr val="FFFFFF"/>
                </a:solidFill>
              </a:rPr>
              <a:t>mh_005, mh_006, mh_007</a:t>
            </a:r>
          </a:p>
        </p:txBody>
      </p:sp>
      <p:sp>
        <p:nvSpPr>
          <p:cNvPr id="100048" name="Cat4"/>
          <p:cNvSpPr txBox="1"/>
          <p:nvPr/>
        </p:nvSpPr>
        <p:spPr>
          <a:xfrm xmlns:a="http://schemas.openxmlformats.org/drawingml/2006/main">
            <a:off x="9180000" y="1260000"/>
            <a:ext cx="2520000" cy="900000"/>
          </a:xfrm>
          <a:prstGeom xmlns:a="http://schemas.openxmlformats.org/drawingml/2006/main" prst="rect">
            <a:avLst/>
          </a:prstGeom>
          <a:solidFill xmlns:a="http://schemas.openxmlformats.org/drawingml/2006/main">
            <a:srgbClr val="27AE60"/>
          </a:solidFill>
        </p:spPr>
        <p:txBody>
          <a:bodyPr xmlns:a="http://schemas.openxmlformats.org/drawingml/2006/main"/>
          <a:lstStyle xmlns:a="http://schemas.openxmlformats.org/drawingml/2006/main"/>
          <a:p xmlns:a="http://schemas.openxmlformats.org/drawingml/2006/main">
            <a:r>
              <a:rPr lang="en-US" sz="1500" b="1">
                <a:solidFill>
                  <a:srgbClr val="FFFFFF"/>
                </a:solidFill>
              </a:rPr>
              <a:t>Mindfulness</a:t>
            </a:r>
          </a:p>
          <a:p xmlns:a="http://schemas.openxmlformats.org/drawingml/2006/main">
            <a:r>
              <a:rPr lang="en-US" sz="1500" b="1">
                <a:solidFill>
                  <a:srgbClr val="FFFFFF"/>
                </a:solidFill>
              </a:rPr>
              <a:t>mh_008, mh_009</a:t>
            </a:r>
          </a:p>
        </p:txBody>
      </p:sp>
      <p:sp>
        <p:nvSpPr>
          <p:cNvPr id="100049" name="Cat5"/>
          <p:cNvSpPr txBox="1"/>
          <p:nvPr/>
        </p:nvSpPr>
        <p:spPr>
          <a:xfrm xmlns:a="http://schemas.openxmlformats.org/drawingml/2006/main">
            <a:off x="540000" y="2520000"/>
            <a:ext cx="2520000" cy="900000"/>
          </a:xfrm>
          <a:prstGeom xmlns:a="http://schemas.openxmlformats.org/drawingml/2006/main" prst="rect">
            <a:avLst/>
          </a:prstGeom>
          <a:solidFill xmlns:a="http://schemas.openxmlformats.org/drawingml/2006/main">
            <a:srgbClr val="7C5CD8"/>
          </a:solidFill>
        </p:spPr>
        <p:txBody>
          <a:bodyPr xmlns:a="http://schemas.openxmlformats.org/drawingml/2006/main"/>
          <a:lstStyle xmlns:a="http://schemas.openxmlformats.org/drawingml/2006/main"/>
          <a:p xmlns:a="http://schemas.openxmlformats.org/drawingml/2006/main">
            <a:r>
              <a:rPr lang="en-US" sz="1500" b="1">
                <a:solidFill>
                  <a:srgbClr val="FFFFFF"/>
                </a:solidFill>
              </a:rPr>
              <a:t>Self-Care</a:t>
            </a:r>
          </a:p>
          <a:p xmlns:a="http://schemas.openxmlformats.org/drawingml/2006/main">
            <a:r>
              <a:rPr lang="en-US" sz="1500" b="1">
                <a:solidFill>
                  <a:srgbClr val="FFFFFF"/>
                </a:solidFill>
              </a:rPr>
              <a:t>mh_010</a:t>
            </a:r>
          </a:p>
        </p:txBody>
      </p:sp>
      <p:sp>
        <p:nvSpPr>
          <p:cNvPr id="100050" name="Cat6"/>
          <p:cNvSpPr txBox="1"/>
          <p:nvPr/>
        </p:nvSpPr>
        <p:spPr>
          <a:xfrm xmlns:a="http://schemas.openxmlformats.org/drawingml/2006/main">
            <a:off x="3420000" y="2520000"/>
            <a:ext cx="2520000" cy="900000"/>
          </a:xfrm>
          <a:prstGeom xmlns:a="http://schemas.openxmlformats.org/drawingml/2006/main" prst="rect">
            <a:avLst/>
          </a:prstGeom>
          <a:solidFill xmlns:a="http://schemas.openxmlformats.org/drawingml/2006/main">
            <a:srgbClr val="0A2540"/>
          </a:solidFill>
        </p:spPr>
        <p:txBody>
          <a:bodyPr xmlns:a="http://schemas.openxmlformats.org/drawingml/2006/main"/>
          <a:lstStyle xmlns:a="http://schemas.openxmlformats.org/drawingml/2006/main"/>
          <a:p xmlns:a="http://schemas.openxmlformats.org/drawingml/2006/main">
            <a:r>
              <a:rPr lang="en-US" sz="1500" b="1">
                <a:solidFill>
                  <a:srgbClr val="FFFFFF"/>
                </a:solidFill>
              </a:rPr>
              <a:t>Stress</a:t>
            </a:r>
          </a:p>
          <a:p xmlns:a="http://schemas.openxmlformats.org/drawingml/2006/main">
            <a:r>
              <a:rPr lang="en-US" sz="1500" b="1">
                <a:solidFill>
                  <a:srgbClr val="FFFFFF"/>
                </a:solidFill>
              </a:rPr>
              <a:t>mh_011</a:t>
            </a:r>
          </a:p>
        </p:txBody>
      </p:sp>
      <p:sp>
        <p:nvSpPr>
          <p:cNvPr id="100051" name="Cat7"/>
          <p:cNvSpPr txBox="1"/>
          <p:nvPr/>
        </p:nvSpPr>
        <p:spPr>
          <a:xfrm xmlns:a="http://schemas.openxmlformats.org/drawingml/2006/main">
            <a:off x="6300000" y="2520000"/>
            <a:ext cx="2520000" cy="900000"/>
          </a:xfrm>
          <a:prstGeom xmlns:a="http://schemas.openxmlformats.org/drawingml/2006/main" prst="rect">
            <a:avLst/>
          </a:prstGeom>
          <a:solidFill xmlns:a="http://schemas.openxmlformats.org/drawingml/2006/main">
            <a:srgbClr val="E74C3C"/>
          </a:solidFill>
        </p:spPr>
        <p:txBody>
          <a:bodyPr xmlns:a="http://schemas.openxmlformats.org/drawingml/2006/main"/>
          <a:lstStyle xmlns:a="http://schemas.openxmlformats.org/drawingml/2006/main"/>
          <a:p xmlns:a="http://schemas.openxmlformats.org/drawingml/2006/main">
            <a:r>
              <a:rPr lang="en-US" sz="1500" b="1">
                <a:solidFill>
                  <a:srgbClr val="FFFFFF"/>
                </a:solidFill>
              </a:rPr>
              <a:t>Trauma / PTSD</a:t>
            </a:r>
          </a:p>
          <a:p xmlns:a="http://schemas.openxmlformats.org/drawingml/2006/main">
            <a:r>
              <a:rPr lang="en-US" sz="1500" b="1">
                <a:solidFill>
                  <a:srgbClr val="FFFFFF"/>
                </a:solidFill>
              </a:rPr>
              <a:t>mh_012</a:t>
            </a:r>
          </a:p>
        </p:txBody>
      </p:sp>
      <p:sp>
        <p:nvSpPr>
          <p:cNvPr id="100052" name="Cat8"/>
          <p:cNvSpPr txBox="1"/>
          <p:nvPr/>
        </p:nvSpPr>
        <p:spPr>
          <a:xfrm xmlns:a="http://schemas.openxmlformats.org/drawingml/2006/main">
            <a:off x="9180000" y="2520000"/>
            <a:ext cx="2520000" cy="900000"/>
          </a:xfrm>
          <a:prstGeom xmlns:a="http://schemas.openxmlformats.org/drawingml/2006/main" prst="rect">
            <a:avLst/>
          </a:prstGeom>
          <a:solidFill xmlns:a="http://schemas.openxmlformats.org/drawingml/2006/main">
            <a:srgbClr val="27AE60"/>
          </a:solidFill>
        </p:spPr>
        <p:txBody>
          <a:bodyPr xmlns:a="http://schemas.openxmlformats.org/drawingml/2006/main"/>
          <a:lstStyle xmlns:a="http://schemas.openxmlformats.org/drawingml/2006/main"/>
          <a:p xmlns:a="http://schemas.openxmlformats.org/drawingml/2006/main">
            <a:r>
              <a:rPr lang="en-US" sz="1500" b="1">
                <a:solidFill>
                  <a:srgbClr val="FFFFFF"/>
                </a:solidFill>
              </a:rPr>
              <a:t>Peer Support</a:t>
            </a:r>
          </a:p>
          <a:p xmlns:a="http://schemas.openxmlformats.org/drawingml/2006/main">
            <a:r>
              <a:rPr lang="en-US" sz="1500" b="1">
                <a:solidFill>
                  <a:srgbClr val="FFFFFF"/>
                </a:solidFill>
              </a:rPr>
              <a:t>mh_013</a:t>
            </a:r>
          </a:p>
        </p:txBody>
      </p:sp>
      <p:sp>
        <p:nvSpPr>
          <p:cNvPr id="100053" name="Highlight"/>
          <p:cNvSpPr txBox="1"/>
          <p:nvPr/>
        </p:nvSpPr>
        <p:spPr>
          <a:xfrm xmlns:a="http://schemas.openxmlformats.org/drawingml/2006/main">
            <a:off x="540000" y="3780000"/>
            <a:ext cx="10800000" cy="540000"/>
          </a:xfrm>
          <a:prstGeom xmlns:a="http://schemas.openxmlformats.org/drawingml/2006/main" prst="rect">
            <a:avLst/>
          </a:prstGeom>
          <a:solidFill xmlns:a="http://schemas.openxmlformats.org/drawingml/2006/main">
            <a:srgbClr val="F0F4FF"/>
          </a:solidFill>
        </p:spPr>
        <p:txBody>
          <a:bodyPr xmlns:a="http://schemas.openxmlformats.org/drawingml/2006/main"/>
          <a:lstStyle xmlns:a="http://schemas.openxmlformats.org/drawingml/2006/main"/>
          <a:p xmlns:a="http://schemas.openxmlformats.org/drawingml/2006/main">
            <a:r>
              <a:rPr lang="en-US" sz="1600" b="0">
                <a:solidFill>
                  <a:srgbClr val="1F2328"/>
                </a:solidFill>
              </a:rPr>
              <a:t>Every document includes: clinical evidence · coping strategies · research statistics · professional referral cues</a:t>
            </a:r>
          </a:p>
        </p:txBody>
      </p:sp>
      <p:sp>
        <p:nvSpPr>
          <p:cNvPr id="100054" name="Stats"/>
          <p:cNvSpPr txBox="1"/>
          <p:nvPr/>
        </p:nvSpPr>
        <p:spPr>
          <a:xfrm xmlns:a="http://schemas.openxmlformats.org/drawingml/2006/main">
            <a:off x="540000" y="4500000"/>
            <a:ext cx="10800000" cy="648000"/>
          </a:xfrm>
          <a:prstGeom xmlns:a="http://schemas.openxmlformats.org/drawingml/2006/main" prst="rect">
            <a:avLst/>
          </a:prstGeom>
          <a:solidFill xmlns:a="http://schemas.openxmlformats.org/drawingml/2006/main">
            <a:srgbClr val="0A2540"/>
          </a:solidFill>
        </p:spPr>
        <p:txBody>
          <a:bodyPr xmlns:a="http://schemas.openxmlformats.org/drawingml/2006/main"/>
          <a:lstStyle xmlns:a="http://schemas.openxmlformats.org/drawingml/2006/main"/>
          <a:p xmlns:a="http://schemas.openxmlformats.org/drawingml/2006/main">
            <a:r>
              <a:rPr lang="en-US" sz="1500" b="1">
                <a:solidFill>
                  <a:srgbClr val="FFFFFF"/>
                </a:solidFill>
              </a:rPr>
              <a:t>13 curated documents  ·  8 clinical categories  ·  20 HIGH-risk trigger phrases  ·  14 MEDIUM-risk trigger phrases  ·  6 global crisis helplines</a:t>
            </a:r>
          </a:p>
        </p:txBody>
      </p:sp>
    </p:spTree>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55" name="Heade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0A2540"/>
          </a:solidFill>
        </p:spPr>
        <p:txBody>
          <a:bodyPr xmlns:a="http://schemas.openxmlformats.org/drawingml/2006/main"/>
          <a:lstStyle xmlns:a="http://schemas.openxmlformats.org/drawingml/2006/main"/>
          <a:p xmlns:a="http://schemas.openxmlformats.org/drawingml/2006/main">
            <a:endParaRPr lang="en-US" sz="3600" b="1">
              <a:solidFill>
                <a:srgbClr val="FFFFFF"/>
              </a:solidFill>
            </a:endParaRPr>
          </a:p>
        </p:txBody>
      </p:sp>
      <p:sp>
        <p:nvSpPr>
          <p:cNvPr id="100056" name="Title"/>
          <p:cNvSpPr txBox="1"/>
          <p:nvPr/>
        </p:nvSpPr>
        <p:spPr>
          <a:xfrm xmlns:a="http://schemas.openxmlformats.org/drawingml/2006/main">
            <a:off x="540000" y="144000"/>
            <a:ext cx="108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IBM Granite LLM Integration</a:t>
            </a:r>
          </a:p>
        </p:txBody>
      </p:sp>
      <p:sp>
        <p:nvSpPr>
          <p:cNvPr id="100057" name="ModelBox"/>
          <p:cNvSpPr txBox="1"/>
          <p:nvPr/>
        </p:nvSpPr>
        <p:spPr>
          <a:xfrm xmlns:a="http://schemas.openxmlformats.org/drawingml/2006/main">
            <a:off x="540000" y="1260000"/>
            <a:ext cx="6480000" cy="540000"/>
          </a:xfrm>
          <a:prstGeom xmlns:a="http://schemas.openxmlformats.org/drawingml/2006/main" prst="rect">
            <a:avLst/>
          </a:prstGeom>
          <a:solidFill xmlns:a="http://schemas.openxmlformats.org/drawingml/2006/main">
            <a:srgbClr val="3B82D4"/>
          </a:solidFill>
        </p:spPr>
        <p:txBody>
          <a:bodyPr xmlns:a="http://schemas.openxmlformats.org/drawingml/2006/main"/>
          <a:lstStyle xmlns:a="http://schemas.openxmlformats.org/drawingml/2006/main"/>
          <a:p xmlns:a="http://schemas.openxmlformats.org/drawingml/2006/main">
            <a:r>
              <a:rPr lang="en-US" sz="2000" b="1">
                <a:solidFill>
                  <a:srgbClr val="FFFFFF"/>
                </a:solidFill>
              </a:rPr>
              <a:t>Model: ibm/granite-13b-instruct-v2</a:t>
            </a:r>
          </a:p>
        </p:txBody>
      </p:sp>
      <p:sp>
        <p:nvSpPr>
          <p:cNvPr id="100058" name="SDKBox"/>
          <p:cNvSpPr txBox="1"/>
          <p:nvPr/>
        </p:nvSpPr>
        <p:spPr>
          <a:xfrm xmlns:a="http://schemas.openxmlformats.org/drawingml/2006/main">
            <a:off x="7560000" y="1260000"/>
            <a:ext cx="3960000" cy="540000"/>
          </a:xfrm>
          <a:prstGeom xmlns:a="http://schemas.openxmlformats.org/drawingml/2006/main" prst="rect">
            <a:avLst/>
          </a:prstGeom>
          <a:solidFill xmlns:a="http://schemas.openxmlformats.org/drawingml/2006/main">
            <a:srgbClr val="0A2540"/>
          </a:solidFill>
        </p:spPr>
        <p:txBody>
          <a:bodyPr xmlns:a="http://schemas.openxmlformats.org/drawingml/2006/main"/>
          <a:lstStyle xmlns:a="http://schemas.openxmlformats.org/drawingml/2006/main"/>
          <a:p xmlns:a="http://schemas.openxmlformats.org/drawingml/2006/main">
            <a:r>
              <a:rPr lang="en-US" sz="1800" b="1">
                <a:solidFill>
                  <a:srgbClr val="FFFFFF"/>
                </a:solidFill>
              </a:rPr>
              <a:t>SDK: ibm-watsonx-ai 1.1.2</a:t>
            </a:r>
          </a:p>
          <a:p xmlns:a="http://schemas.openxmlformats.org/drawingml/2006/main">
            <a:r>
              <a:rPr lang="en-US" sz="1800" b="1">
                <a:solidFill>
                  <a:srgbClr val="FFFFFF"/>
                </a:solidFill>
              </a:rPr>
              <a:t>Credentials + ModelInference</a:t>
            </a:r>
          </a:p>
        </p:txBody>
      </p:sp>
      <p:sp>
        <p:nvSpPr>
          <p:cNvPr id="100059" name="ParamTitle"/>
          <p:cNvSpPr txBox="1"/>
          <p:nvPr/>
        </p:nvSpPr>
        <p:spPr>
          <a:xfrm xmlns:a="http://schemas.openxmlformats.org/drawingml/2006/main">
            <a:off x="540000" y="1980000"/>
            <a:ext cx="5040000" cy="360000"/>
          </a:xfrm>
          <a:prstGeom xmlns:a="http://schemas.openxmlformats.org/drawingml/2006/main" prst="rect">
            <a:avLst/>
          </a:prstGeom>
          <a:solidFill xmlns:a="http://schemas.openxmlformats.org/drawingml/2006/main">
            <a:srgbClr val="7C5CD8"/>
          </a:solidFill>
        </p:spPr>
        <p:txBody>
          <a:bodyPr xmlns:a="http://schemas.openxmlformats.org/drawingml/2006/main"/>
          <a:lstStyle xmlns:a="http://schemas.openxmlformats.org/drawingml/2006/main"/>
          <a:p xmlns:a="http://schemas.openxmlformats.org/drawingml/2006/main">
            <a:r>
              <a:rPr lang="en-US" sz="1800" b="1">
                <a:solidFill>
                  <a:srgbClr val="FFFFFF"/>
                </a:solidFill>
              </a:rPr>
              <a:t>Generation Parameters</a:t>
            </a:r>
          </a:p>
        </p:txBody>
      </p:sp>
      <p:sp>
        <p:nvSpPr>
          <p:cNvPr id="100060" name="ParamBody"/>
          <p:cNvSpPr txBox="1"/>
          <p:nvPr/>
        </p:nvSpPr>
        <p:spPr>
          <a:xfrm xmlns:a="http://schemas.openxmlformats.org/drawingml/2006/main">
            <a:off x="540000" y="2412000"/>
            <a:ext cx="5040000" cy="1800000"/>
          </a:xfrm>
          <a:prstGeom xmlns:a="http://schemas.openxmlformats.org/drawingml/2006/main" prst="rect">
            <a:avLst/>
          </a:prstGeom>
          <a:solidFill xmlns:a="http://schemas.openxmlformats.org/drawingml/2006/main">
            <a:srgbClr val="F7F8FA"/>
          </a:solidFill>
        </p:spPr>
        <p:txBody>
          <a:bodyPr xmlns:a="http://schemas.openxmlformats.org/drawingml/2006/main"/>
          <a:lstStyle xmlns:a="http://schemas.openxmlformats.org/drawingml/2006/main"/>
          <a:p xmlns:a="http://schemas.openxmlformats.org/drawingml/2006/main">
            <a:r>
              <a:rPr lang="en-US" sz="1700">
                <a:solidFill>
                  <a:srgbClr val="1F2328"/>
                </a:solidFill>
              </a:rPr>
              <a:t>max_new_tokens:    600</a:t>
            </a:r>
          </a:p>
          <a:p xmlns:a="http://schemas.openxmlformats.org/drawingml/2006/main">
            <a:r>
              <a:rPr lang="en-US" sz="1700">
                <a:solidFill>
                  <a:srgbClr val="1F2328"/>
                </a:solidFill>
              </a:rPr>
              <a:t>min_new_tokens:    30</a:t>
            </a:r>
          </a:p>
          <a:p xmlns:a="http://schemas.openxmlformats.org/drawingml/2006/main">
            <a:r>
              <a:rPr lang="en-US" sz="1700">
                <a:solidFill>
                  <a:srgbClr val="1F2328"/>
                </a:solidFill>
              </a:rPr>
              <a:t>temperature:       0.75</a:t>
            </a:r>
          </a:p>
          <a:p xmlns:a="http://schemas.openxmlformats.org/drawingml/2006/main">
            <a:r>
              <a:rPr lang="en-US" sz="1700">
                <a:solidFill>
                  <a:srgbClr val="1F2328"/>
                </a:solidFill>
              </a:rPr>
              <a:t>top_p:             0.90</a:t>
            </a:r>
          </a:p>
          <a:p xmlns:a="http://schemas.openxmlformats.org/drawingml/2006/main">
            <a:r>
              <a:rPr lang="en-US" sz="1700">
                <a:solidFill>
                  <a:srgbClr val="1F2328"/>
                </a:solidFill>
              </a:rPr>
              <a:t>repetition_penalty: 1.15</a:t>
            </a:r>
          </a:p>
        </p:txBody>
      </p:sp>
      <p:sp>
        <p:nvSpPr>
          <p:cNvPr id="100061" name="PromptTitle"/>
          <p:cNvSpPr txBox="1"/>
          <p:nvPr/>
        </p:nvSpPr>
        <p:spPr>
          <a:xfrm xmlns:a="http://schemas.openxmlformats.org/drawingml/2006/main">
            <a:off x="6120000" y="1980000"/>
            <a:ext cx="5580000" cy="360000"/>
          </a:xfrm>
          <a:prstGeom xmlns:a="http://schemas.openxmlformats.org/drawingml/2006/main" prst="rect">
            <a:avLst/>
          </a:prstGeom>
          <a:solidFill xmlns:a="http://schemas.openxmlformats.org/drawingml/2006/main">
            <a:srgbClr val="7C5CD8"/>
          </a:solidFill>
        </p:spPr>
        <p:txBody>
          <a:bodyPr xmlns:a="http://schemas.openxmlformats.org/drawingml/2006/main"/>
          <a:lstStyle xmlns:a="http://schemas.openxmlformats.org/drawingml/2006/main"/>
          <a:p xmlns:a="http://schemas.openxmlformats.org/drawingml/2006/main">
            <a:r>
              <a:rPr lang="en-US" sz="1600" b="1">
                <a:solidFill>
                  <a:srgbClr val="FFFFFF"/>
                </a:solidFill>
              </a:rPr>
              <a:t>SYSTEM_PROMPT_TEMPLATE  (agent.py)</a:t>
            </a:r>
          </a:p>
        </p:txBody>
      </p:sp>
      <p:sp>
        <p:nvSpPr>
          <p:cNvPr id="100062" name="PromptBody"/>
          <p:cNvSpPr txBox="1"/>
          <p:nvPr/>
        </p:nvSpPr>
        <p:spPr>
          <a:xfrm xmlns:a="http://schemas.openxmlformats.org/drawingml/2006/main">
            <a:off x="6120000" y="2412000"/>
            <a:ext cx="5580000" cy="3240000"/>
          </a:xfrm>
          <a:prstGeom xmlns:a="http://schemas.openxmlformats.org/drawingml/2006/main" prst="rect">
            <a:avLst/>
          </a:prstGeom>
          <a:solidFill xmlns:a="http://schemas.openxmlformats.org/drawingml/2006/main">
            <a:srgbClr val="F7F8FA"/>
          </a:solidFill>
        </p:spPr>
        <p:txBody>
          <a:bodyPr xmlns:a="http://schemas.openxmlformats.org/drawingml/2006/main"/>
          <a:lstStyle xmlns:a="http://schemas.openxmlformats.org/drawingml/2006/main"/>
          <a:p xmlns:a="http://schemas.openxmlformats.org/drawingml/2006/main">
            <a:r>
              <a:rPr lang="en-US" sz="1400">
                <a:solidFill>
                  <a:srgbClr val="1F2328"/>
                </a:solidFill>
              </a:rPr>
              <a:t>Persona: MindGuard — compassionate Mental Health Awareness &amp; Suicide Prevention AI</a:t>
            </a:r>
          </a:p>
          <a:p xmlns:a="http://schemas.openxmlformats.org/drawingml/2006/main">
            <a:r>
              <a:rPr lang="en-US" sz="1400">
                <a:solidFill>
                  <a:srgbClr val="1F2328"/>
                </a:solidFill>
              </a:rPr>
              <a:t/>
            </a:r>
          </a:p>
          <a:p xmlns:a="http://schemas.openxmlformats.org/drawingml/2006/main">
            <a:r>
              <a:rPr lang="en-US" sz="1400">
                <a:solidFill>
                  <a:srgbClr val="1F2328"/>
                </a:solidFill>
              </a:rPr>
              <a:t>Roles defined:</a:t>
            </a:r>
          </a:p>
          <a:p xmlns:a="http://schemas.openxmlformats.org/drawingml/2006/main">
            <a:r>
              <a:rPr lang="en-US" sz="1400">
                <a:solidFill>
                  <a:srgbClr val="1F2328"/>
                </a:solidFill>
              </a:rPr>
              <a:t>  • Active listening &amp; emotional acknowledgment</a:t>
            </a:r>
          </a:p>
          <a:p xmlns:a="http://schemas.openxmlformats.org/drawingml/2006/main">
            <a:r>
              <a:rPr lang="en-US" sz="1400">
                <a:solidFill>
                  <a:srgbClr val="1F2328"/>
                </a:solidFill>
              </a:rPr>
              <a:t>  • Empathy-first, non-judgmental responses</a:t>
            </a:r>
          </a:p>
          <a:p xmlns:a="http://schemas.openxmlformats.org/drawingml/2006/main">
            <a:r>
              <a:rPr lang="en-US" sz="1400">
                <a:solidFill>
                  <a:srgbClr val="1F2328"/>
                </a:solidFill>
              </a:rPr>
              <a:t>  • Evidence-based mental health information</a:t>
            </a:r>
          </a:p>
          <a:p xmlns:a="http://schemas.openxmlformats.org/drawingml/2006/main">
            <a:r>
              <a:rPr lang="en-US" sz="1400">
                <a:solidFill>
                  <a:srgbClr val="1F2328"/>
                </a:solidFill>
              </a:rPr>
              <a:t>  • Distress signal detection</a:t>
            </a:r>
          </a:p>
          <a:p xmlns:a="http://schemas.openxmlformats.org/drawingml/2006/main">
            <a:r>
              <a:rPr lang="en-US" sz="1400">
                <a:solidFill>
                  <a:srgbClr val="1F2328"/>
                </a:solidFill>
              </a:rPr>
              <a:t>  • Professional resource referral</a:t>
            </a:r>
          </a:p>
          <a:p xmlns:a="http://schemas.openxmlformats.org/drawingml/2006/main">
            <a:r>
              <a:rPr lang="en-US" sz="1400">
                <a:solidFill>
                  <a:srgbClr val="1F2328"/>
                </a:solidFill>
              </a:rPr>
              <a:t/>
            </a:r>
          </a:p>
          <a:p xmlns:a="http://schemas.openxmlformats.org/drawingml/2006/main">
            <a:r>
              <a:rPr lang="en-US" sz="1400">
                <a:solidFill>
                  <a:srgbClr val="1F2328"/>
                </a:solidFill>
              </a:rPr>
              <a:t>Injected at runtime:</a:t>
            </a:r>
          </a:p>
          <a:p xmlns:a="http://schemas.openxmlformats.org/drawingml/2006/main">
            <a:r>
              <a:rPr lang="en-US" sz="1400">
                <a:solidFill>
                  <a:srgbClr val="1F2328"/>
                </a:solidFill>
              </a:rPr>
              <a:t>  {context} → Top-3 RAG documents</a:t>
            </a:r>
          </a:p>
          <a:p xmlns:a="http://schemas.openxmlformats.org/drawingml/2006/main">
            <a:r>
              <a:rPr lang="en-US" sz="1400">
                <a:solidFill>
                  <a:srgbClr val="1F2328"/>
                </a:solidFill>
              </a:rPr>
              <a:t>  {history} → Multi-turn conversation memory</a:t>
            </a:r>
          </a:p>
          <a:p xmlns:a="http://schemas.openxmlformats.org/drawingml/2006/main">
            <a:r>
              <a:rPr lang="en-US" sz="1400">
                <a:solidFill>
                  <a:srgbClr val="1F2328"/>
                </a:solidFill>
              </a:rPr>
              <a:t/>
            </a:r>
          </a:p>
          <a:p xmlns:a="http://schemas.openxmlformats.org/drawingml/2006/main">
            <a:r>
              <a:rPr lang="en-US" sz="1400">
                <a:solidFill>
                  <a:srgbClr val="1F2328"/>
                </a:solidFill>
              </a:rPr>
              <a:t>Tone: HAM — Helpful, Accurate, Mindful</a:t>
            </a:r>
          </a:p>
        </p:txBody>
      </p:sp>
    </p:spTree>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63" name="Heade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3B82D4"/>
          </a:solidFill>
        </p:spPr>
        <p:txBody>
          <a:bodyPr xmlns:a="http://schemas.openxmlformats.org/drawingml/2006/main"/>
          <a:lstStyle xmlns:a="http://schemas.openxmlformats.org/drawingml/2006/main"/>
          <a:p xmlns:a="http://schemas.openxmlformats.org/drawingml/2006/main">
            <a:endParaRPr lang="en-US" sz="3600" b="1">
              <a:solidFill>
                <a:srgbClr val="FFFFFF"/>
              </a:solidFill>
            </a:endParaRPr>
          </a:p>
        </p:txBody>
      </p:sp>
      <p:sp>
        <p:nvSpPr>
          <p:cNvPr id="100064" name="Title"/>
          <p:cNvSpPr txBox="1"/>
          <p:nvPr/>
        </p:nvSpPr>
        <p:spPr>
          <a:xfrm xmlns:a="http://schemas.openxmlformats.org/drawingml/2006/main">
            <a:off x="540000" y="144000"/>
            <a:ext cx="108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Sample Conversation Flow</a:t>
            </a:r>
          </a:p>
        </p:txBody>
      </p:sp>
      <p:sp>
        <p:nvSpPr>
          <p:cNvPr id="100065" name="UserMsg1"/>
          <p:cNvSpPr txBox="1"/>
          <p:nvPr/>
        </p:nvSpPr>
        <p:spPr>
          <a:xfrm xmlns:a="http://schemas.openxmlformats.org/drawingml/2006/main">
            <a:off x="540000" y="1260000"/>
            <a:ext cx="10080000" cy="648000"/>
          </a:xfrm>
          <a:prstGeom xmlns:a="http://schemas.openxmlformats.org/drawingml/2006/main" prst="rect">
            <a:avLst/>
          </a:prstGeom>
          <a:solidFill xmlns:a="http://schemas.openxmlformats.org/drawingml/2006/main">
            <a:srgbClr val="EBF5FB"/>
          </a:solidFill>
        </p:spPr>
        <p:txBody>
          <a:bodyPr xmlns:a="http://schemas.openxmlformats.org/drawingml/2006/main"/>
          <a:lstStyle xmlns:a="http://schemas.openxmlformats.org/drawingml/2006/main"/>
          <a:p xmlns:a="http://schemas.openxmlformats.org/drawingml/2006/main">
            <a:r>
              <a:rPr lang="en-US" sz="1600">
                <a:solidFill>
                  <a:srgbClr val="1F2328"/>
                </a:solidFill>
              </a:rPr>
              <a:t>User:  "I've been feeling really hopeless lately. Nothing seems to matter anymore."</a:t>
            </a:r>
          </a:p>
        </p:txBody>
      </p:sp>
      <p:sp>
        <p:nvSpPr>
          <p:cNvPr id="100066" name="SysAct1"/>
          <p:cNvSpPr txBox="1"/>
          <p:nvPr/>
        </p:nvSpPr>
        <p:spPr>
          <a:xfrm xmlns:a="http://schemas.openxmlformats.org/drawingml/2006/main">
            <a:off x="540000" y="1980000"/>
            <a:ext cx="10080000" cy="432000"/>
          </a:xfrm>
          <a:prstGeom xmlns:a="http://schemas.openxmlformats.org/drawingml/2006/main" prst="rect">
            <a:avLst/>
          </a:prstGeom>
          <a:solidFill xmlns:a="http://schemas.openxmlformats.org/drawingml/2006/main">
            <a:srgbClr val="E67E22"/>
          </a:solidFill>
        </p:spPr>
        <p:txBody>
          <a:bodyPr xmlns:a="http://schemas.openxmlformats.org/drawingml/2006/main"/>
          <a:lstStyle xmlns:a="http://schemas.openxmlformats.org/drawingml/2006/main"/>
          <a:p xmlns:a="http://schemas.openxmlformats.org/drawingml/2006/main">
            <a:r>
              <a:rPr lang="en-US" sz="1400" b="1">
                <a:solidFill>
                  <a:srgbClr val="FFFFFF"/>
                </a:solidFill>
              </a:rPr>
              <a:t>→ Risk Triage: MEDIUM  ("hopeless")  →  RAG retrieves: Depression, Mindfulness docs</a:t>
            </a:r>
          </a:p>
        </p:txBody>
      </p:sp>
      <p:sp>
        <p:nvSpPr>
          <p:cNvPr id="100067" name="BotMsg1"/>
          <p:cNvSpPr txBox="1"/>
          <p:nvPr/>
        </p:nvSpPr>
        <p:spPr>
          <a:xfrm xmlns:a="http://schemas.openxmlformats.org/drawingml/2006/main">
            <a:off x="540000" y="2520000"/>
            <a:ext cx="10080000" cy="1260000"/>
          </a:xfrm>
          <a:prstGeom xmlns:a="http://schemas.openxmlformats.org/drawingml/2006/main" prst="rect">
            <a:avLst/>
          </a:prstGeom>
          <a:solidFill xmlns:a="http://schemas.openxmlformats.org/drawingml/2006/main">
            <a:srgbClr val="F0FFF4"/>
          </a:solidFill>
        </p:spPr>
        <p:txBody>
          <a:bodyPr xmlns:a="http://schemas.openxmlformats.org/drawingml/2006/main"/>
          <a:lstStyle xmlns:a="http://schemas.openxmlformats.org/drawingml/2006/main"/>
          <a:p xmlns:a="http://schemas.openxmlformats.org/drawingml/2006/main">
            <a:r>
              <a:rPr lang="en-US" sz="1500">
                <a:solidFill>
                  <a:srgbClr val="1F2328"/>
                </a:solidFill>
              </a:rPr>
              <a:t>MindGuard:  "I hear you, and I'm really glad you reached out. Feeling hopeless can be incredibly heavy to carry, and those feelings are valid. What you're experiencing sounds like depression — a real medical condition, not a weakness. Would you be open to talking about what's been happening lately?  [Evidence-based coping strategies + professional referral]"</a:t>
            </a:r>
          </a:p>
        </p:txBody>
      </p:sp>
      <p:sp>
        <p:nvSpPr>
          <p:cNvPr id="100068" name="UserMsg2"/>
          <p:cNvSpPr txBox="1"/>
          <p:nvPr/>
        </p:nvSpPr>
        <p:spPr>
          <a:xfrm xmlns:a="http://schemas.openxmlformats.org/drawingml/2006/main">
            <a:off x="540000" y="3960000"/>
            <a:ext cx="10080000" cy="540000"/>
          </a:xfrm>
          <a:prstGeom xmlns:a="http://schemas.openxmlformats.org/drawingml/2006/main" prst="rect">
            <a:avLst/>
          </a:prstGeom>
          <a:solidFill xmlns:a="http://schemas.openxmlformats.org/drawingml/2006/main">
            <a:srgbClr val="E74C3C"/>
          </a:solidFill>
        </p:spPr>
        <p:txBody>
          <a:bodyPr xmlns:a="http://schemas.openxmlformats.org/drawingml/2006/main"/>
          <a:lstStyle xmlns:a="http://schemas.openxmlformats.org/drawingml/2006/main"/>
          <a:p xmlns:a="http://schemas.openxmlformats.org/drawingml/2006/main">
            <a:r>
              <a:rPr lang="en-US" sz="1600">
                <a:solidFill>
                  <a:srgbClr val="FFFFFF"/>
                </a:solidFill>
              </a:rPr>
              <a:t>User:  "I've been thinking about ending it all. I don't see any other way out."</a:t>
            </a:r>
          </a:p>
        </p:txBody>
      </p:sp>
      <p:sp>
        <p:nvSpPr>
          <p:cNvPr id="100069" name="SysAct2"/>
          <p:cNvSpPr txBox="1"/>
          <p:nvPr/>
        </p:nvSpPr>
        <p:spPr>
          <a:xfrm xmlns:a="http://schemas.openxmlformats.org/drawingml/2006/main">
            <a:off x="540000" y="4572000"/>
            <a:ext cx="10080000" cy="432000"/>
          </a:xfrm>
          <a:prstGeom xmlns:a="http://schemas.openxmlformats.org/drawingml/2006/main" prst="rect">
            <a:avLst/>
          </a:prstGeom>
          <a:solidFill xmlns:a="http://schemas.openxmlformats.org/drawingml/2006/main">
            <a:srgbClr val="C0392B"/>
          </a:solidFill>
        </p:spPr>
        <p:txBody>
          <a:bodyPr xmlns:a="http://schemas.openxmlformats.org/drawingml/2006/main"/>
          <a:lstStyle xmlns:a="http://schemas.openxmlformats.org/drawingml/2006/main"/>
          <a:p xmlns:a="http://schemas.openxmlformats.org/drawingml/2006/main">
            <a:r>
              <a:rPr lang="en-US" sz="1400" b="1">
                <a:solidFill>
                  <a:srgbClr val="FFFFFF"/>
                </a:solidFill>
              </a:rPr>
              <a:t>→ Risk Triage: HIGH  ("ending it all")  →  Crisis resources appended automatically  →  RAG: Suicide Prevention docs</a:t>
            </a:r>
          </a:p>
        </p:txBody>
      </p:sp>
      <p:sp>
        <p:nvSpPr>
          <p:cNvPr id="100070" name="BotMsg2"/>
          <p:cNvSpPr txBox="1"/>
          <p:nvPr/>
        </p:nvSpPr>
        <p:spPr>
          <a:xfrm xmlns:a="http://schemas.openxmlformats.org/drawingml/2006/main">
            <a:off x="540000" y="5076000"/>
            <a:ext cx="10080000" cy="900000"/>
          </a:xfrm>
          <a:prstGeom xmlns:a="http://schemas.openxmlformats.org/drawingml/2006/main" prst="rect">
            <a:avLst/>
          </a:prstGeom>
          <a:solidFill xmlns:a="http://schemas.openxmlformats.org/drawingml/2006/main">
            <a:srgbClr val="FFF5F5"/>
          </a:solidFill>
        </p:spPr>
        <p:txBody>
          <a:bodyPr xmlns:a="http://schemas.openxmlformats.org/drawingml/2006/main"/>
          <a:lstStyle xmlns:a="http://schemas.openxmlformats.org/drawingml/2006/main"/>
          <a:p xmlns:a="http://schemas.openxmlformats.org/drawingml/2006/main">
            <a:r>
              <a:rPr lang="en-US" sz="1400">
                <a:solidFill>
                  <a:srgbClr val="1F2328"/>
                </a:solidFill>
              </a:rPr>
              <a:t>MindGuard:  "Thank you for trusting me with this. Your life matters deeply. Please reach out right now:</a:t>
            </a:r>
          </a:p>
          <a:p xmlns:a="http://schemas.openxmlformats.org/drawingml/2006/main">
            <a:r>
              <a:rPr lang="en-US" sz="1400">
                <a:solidFill>
                  <a:srgbClr val="1F2328"/>
                </a:solidFill>
              </a:rPr>
              <a:t>  🆘 USA: Call / Text 988  ·  Crisis Text: HOME → 741741  ·  India: 9152987821  ·  UK: 116 123"</a:t>
            </a:r>
          </a:p>
        </p:txBody>
      </p:sp>
    </p:spTree>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71" name="Heade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0A2540"/>
          </a:solidFill>
        </p:spPr>
        <p:txBody>
          <a:bodyPr xmlns:a="http://schemas.openxmlformats.org/drawingml/2006/main"/>
          <a:lstStyle xmlns:a="http://schemas.openxmlformats.org/drawingml/2006/main"/>
          <a:p xmlns:a="http://schemas.openxmlformats.org/drawingml/2006/main">
            <a:endParaRPr lang="en-US" sz="3600" b="1">
              <a:solidFill>
                <a:srgbClr val="FFFFFF"/>
              </a:solidFill>
            </a:endParaRPr>
          </a:p>
        </p:txBody>
      </p:sp>
      <p:sp>
        <p:nvSpPr>
          <p:cNvPr id="100072" name="Title"/>
          <p:cNvSpPr txBox="1"/>
          <p:nvPr/>
        </p:nvSpPr>
        <p:spPr>
          <a:xfrm xmlns:a="http://schemas.openxmlformats.org/drawingml/2006/main">
            <a:off x="540000" y="144000"/>
            <a:ext cx="108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Tech Stack &amp; Dependencies</a:t>
            </a:r>
          </a:p>
        </p:txBody>
      </p:sp>
      <p:sp>
        <p:nvSpPr>
          <p:cNvPr id="100073" name="ColATitle"/>
          <p:cNvSpPr txBox="1"/>
          <p:nvPr/>
        </p:nvSpPr>
        <p:spPr>
          <a:xfrm xmlns:a="http://schemas.openxmlformats.org/drawingml/2006/main">
            <a:off x="540000" y="1260000"/>
            <a:ext cx="3420000" cy="360000"/>
          </a:xfrm>
          <a:prstGeom xmlns:a="http://schemas.openxmlformats.org/drawingml/2006/main" prst="rect">
            <a:avLst/>
          </a:prstGeom>
          <a:solidFill xmlns:a="http://schemas.openxmlformats.org/drawingml/2006/main">
            <a:srgbClr val="3B82D4"/>
          </a:solidFill>
        </p:spPr>
        <p:txBody>
          <a:bodyPr xmlns:a="http://schemas.openxmlformats.org/drawingml/2006/main"/>
          <a:lstStyle xmlns:a="http://schemas.openxmlformats.org/drawingml/2006/main"/>
          <a:p xmlns:a="http://schemas.openxmlformats.org/drawingml/2006/main">
            <a:r>
              <a:rPr lang="en-US" sz="1700" b="1">
                <a:solidFill>
                  <a:srgbClr val="FFFFFF"/>
                </a:solidFill>
              </a:rPr>
              <a:t>AI / ML</a:t>
            </a:r>
          </a:p>
        </p:txBody>
      </p:sp>
      <p:sp>
        <p:nvSpPr>
          <p:cNvPr id="100074" name="ColABody"/>
          <p:cNvSpPr txBox="1"/>
          <p:nvPr/>
        </p:nvSpPr>
        <p:spPr>
          <a:xfrm xmlns:a="http://schemas.openxmlformats.org/drawingml/2006/main">
            <a:off x="540000" y="1692000"/>
            <a:ext cx="3420000" cy="2520000"/>
          </a:xfrm>
          <a:prstGeom xmlns:a="http://schemas.openxmlformats.org/drawingml/2006/main" prst="rect">
            <a:avLst/>
          </a:prstGeom>
          <a:solidFill xmlns:a="http://schemas.openxmlformats.org/drawingml/2006/main">
            <a:srgbClr val="F7F8FA"/>
          </a:solidFill>
        </p:spPr>
        <p:txBody>
          <a:bodyPr xmlns:a="http://schemas.openxmlformats.org/drawingml/2006/main"/>
          <a:lstStyle xmlns:a="http://schemas.openxmlformats.org/drawingml/2006/main"/>
          <a:p xmlns:a="http://schemas.openxmlformats.org/drawingml/2006/main">
            <a:r>
              <a:rPr lang="en-US" sz="1600">
                <a:solidFill>
                  <a:srgbClr val="1F2328"/>
                </a:solidFill>
              </a:rPr>
              <a:t>ibm-watsonx-ai 1.1.2</a:t>
            </a:r>
          </a:p>
          <a:p xmlns:a="http://schemas.openxmlformats.org/drawingml/2006/main">
            <a:r>
              <a:rPr lang="en-US" sz="1600">
                <a:solidFill>
                  <a:srgbClr val="1F2328"/>
                </a:solidFill>
              </a:rPr>
              <a:t>langchain 0.2.16</a:t>
            </a:r>
          </a:p>
          <a:p xmlns:a="http://schemas.openxmlformats.org/drawingml/2006/main">
            <a:r>
              <a:rPr lang="en-US" sz="1600">
                <a:solidFill>
                  <a:srgbClr val="1F2328"/>
                </a:solidFill>
              </a:rPr>
              <a:t>langchain-ibm 0.1.12</a:t>
            </a:r>
          </a:p>
          <a:p xmlns:a="http://schemas.openxmlformats.org/drawingml/2006/main">
            <a:r>
              <a:rPr lang="en-US" sz="1600">
                <a:solidFill>
                  <a:srgbClr val="1F2328"/>
                </a:solidFill>
              </a:rPr>
              <a:t>langchain-community 0.2.16</a:t>
            </a:r>
          </a:p>
          <a:p xmlns:a="http://schemas.openxmlformats.org/drawingml/2006/main">
            <a:r>
              <a:rPr lang="en-US" sz="1600">
                <a:solidFill>
                  <a:srgbClr val="1F2328"/>
                </a:solidFill>
              </a:rPr>
              <a:t>sentence-transformers 3.1.1</a:t>
            </a:r>
          </a:p>
          <a:p xmlns:a="http://schemas.openxmlformats.org/drawingml/2006/main">
            <a:r>
              <a:rPr lang="en-US" sz="1600">
                <a:solidFill>
                  <a:srgbClr val="1F2328"/>
                </a:solidFill>
              </a:rPr>
              <a:t>faiss-cpu 1.8.0</a:t>
            </a:r>
          </a:p>
        </p:txBody>
      </p:sp>
      <p:sp>
        <p:nvSpPr>
          <p:cNvPr id="100075" name="ColBTitle"/>
          <p:cNvSpPr txBox="1"/>
          <p:nvPr/>
        </p:nvSpPr>
        <p:spPr>
          <a:xfrm xmlns:a="http://schemas.openxmlformats.org/drawingml/2006/main">
            <a:off x="4392000" y="1260000"/>
            <a:ext cx="3420000" cy="360000"/>
          </a:xfrm>
          <a:prstGeom xmlns:a="http://schemas.openxmlformats.org/drawingml/2006/main" prst="rect">
            <a:avLst/>
          </a:prstGeom>
          <a:solidFill xmlns:a="http://schemas.openxmlformats.org/drawingml/2006/main">
            <a:srgbClr val="27AE60"/>
          </a:solidFill>
        </p:spPr>
        <p:txBody>
          <a:bodyPr xmlns:a="http://schemas.openxmlformats.org/drawingml/2006/main"/>
          <a:lstStyle xmlns:a="http://schemas.openxmlformats.org/drawingml/2006/main"/>
          <a:p xmlns:a="http://schemas.openxmlformats.org/drawingml/2006/main">
            <a:r>
              <a:rPr lang="en-US" sz="1700" b="1">
                <a:solidFill>
                  <a:srgbClr val="FFFFFF"/>
                </a:solidFill>
              </a:rPr>
              <a:t>Web / API</a:t>
            </a:r>
          </a:p>
        </p:txBody>
      </p:sp>
      <p:sp>
        <p:nvSpPr>
          <p:cNvPr id="100076" name="ColBBody"/>
          <p:cNvSpPr txBox="1"/>
          <p:nvPr/>
        </p:nvSpPr>
        <p:spPr>
          <a:xfrm xmlns:a="http://schemas.openxmlformats.org/drawingml/2006/main">
            <a:off x="4392000" y="1692000"/>
            <a:ext cx="3420000" cy="2520000"/>
          </a:xfrm>
          <a:prstGeom xmlns:a="http://schemas.openxmlformats.org/drawingml/2006/main" prst="rect">
            <a:avLst/>
          </a:prstGeom>
          <a:solidFill xmlns:a="http://schemas.openxmlformats.org/drawingml/2006/main">
            <a:srgbClr val="F7F8FA"/>
          </a:solidFill>
        </p:spPr>
        <p:txBody>
          <a:bodyPr xmlns:a="http://schemas.openxmlformats.org/drawingml/2006/main"/>
          <a:lstStyle xmlns:a="http://schemas.openxmlformats.org/drawingml/2006/main"/>
          <a:p xmlns:a="http://schemas.openxmlformats.org/drawingml/2006/main">
            <a:r>
              <a:rPr lang="en-US" sz="1600">
                <a:solidFill>
                  <a:srgbClr val="1F2328"/>
                </a:solidFill>
              </a:rPr>
              <a:t>flask 3.0.3</a:t>
            </a:r>
          </a:p>
          <a:p xmlns:a="http://schemas.openxmlformats.org/drawingml/2006/main">
            <a:r>
              <a:rPr lang="en-US" sz="1600">
                <a:solidFill>
                  <a:srgbClr val="1F2328"/>
                </a:solidFill>
              </a:rPr>
              <a:t>flask-cors 4.0.1</a:t>
            </a:r>
          </a:p>
          <a:p xmlns:a="http://schemas.openxmlformats.org/drawingml/2006/main">
            <a:r>
              <a:rPr lang="en-US" sz="1600">
                <a:solidFill>
                  <a:srgbClr val="1F2328"/>
                </a:solidFill>
              </a:rPr>
              <a:t>requests 2.32.3</a:t>
            </a:r>
          </a:p>
          <a:p xmlns:a="http://schemas.openxmlformats.org/drawingml/2006/main">
            <a:r>
              <a:rPr lang="en-US" sz="1600">
                <a:solidFill>
                  <a:srgbClr val="1F2328"/>
                </a:solidFill>
              </a:rPr>
              <a:t>python-dotenv 1.0.1</a:t>
            </a:r>
          </a:p>
          <a:p xmlns:a="http://schemas.openxmlformats.org/drawingml/2006/main">
            <a:r>
              <a:rPr lang="en-US" sz="1600">
                <a:solidFill>
                  <a:srgbClr val="1F2328"/>
                </a:solidFill>
              </a:rPr>
              <a:t>markdown 3.7</a:t>
            </a:r>
          </a:p>
        </p:txBody>
      </p:sp>
      <p:sp>
        <p:nvSpPr>
          <p:cNvPr id="100077" name="ColCTitle"/>
          <p:cNvSpPr txBox="1"/>
          <p:nvPr/>
        </p:nvSpPr>
        <p:spPr>
          <a:xfrm xmlns:a="http://schemas.openxmlformats.org/drawingml/2006/main">
            <a:off x="8280000" y="1260000"/>
            <a:ext cx="3420000" cy="360000"/>
          </a:xfrm>
          <a:prstGeom xmlns:a="http://schemas.openxmlformats.org/drawingml/2006/main" prst="rect">
            <a:avLst/>
          </a:prstGeom>
          <a:solidFill xmlns:a="http://schemas.openxmlformats.org/drawingml/2006/main">
            <a:srgbClr val="7C5CD8"/>
          </a:solidFill>
        </p:spPr>
        <p:txBody>
          <a:bodyPr xmlns:a="http://schemas.openxmlformats.org/drawingml/2006/main"/>
          <a:lstStyle xmlns:a="http://schemas.openxmlformats.org/drawingml/2006/main"/>
          <a:p xmlns:a="http://schemas.openxmlformats.org/drawingml/2006/main">
            <a:r>
              <a:rPr lang="en-US" sz="1700" b="1">
                <a:solidFill>
                  <a:srgbClr val="FFFFFF"/>
                </a:solidFill>
              </a:rPr>
              <a:t>Platform</a:t>
            </a:r>
          </a:p>
        </p:txBody>
      </p:sp>
      <p:sp>
        <p:nvSpPr>
          <p:cNvPr id="100078" name="ColCBody"/>
          <p:cNvSpPr txBox="1"/>
          <p:nvPr/>
        </p:nvSpPr>
        <p:spPr>
          <a:xfrm xmlns:a="http://schemas.openxmlformats.org/drawingml/2006/main">
            <a:off x="8280000" y="1692000"/>
            <a:ext cx="3420000" cy="2520000"/>
          </a:xfrm>
          <a:prstGeom xmlns:a="http://schemas.openxmlformats.org/drawingml/2006/main" prst="rect">
            <a:avLst/>
          </a:prstGeom>
          <a:solidFill xmlns:a="http://schemas.openxmlformats.org/drawingml/2006/main">
            <a:srgbClr val="F7F8FA"/>
          </a:solidFill>
        </p:spPr>
        <p:txBody>
          <a:bodyPr xmlns:a="http://schemas.openxmlformats.org/drawingml/2006/main"/>
          <a:lstStyle xmlns:a="http://schemas.openxmlformats.org/drawingml/2006/main"/>
          <a:p xmlns:a="http://schemas.openxmlformats.org/drawingml/2006/main">
            <a:r>
              <a:rPr lang="en-US" sz="1600">
                <a:solidFill>
                  <a:srgbClr val="1F2328"/>
                </a:solidFill>
              </a:rPr>
              <a:t>IBM watsonx.ai</a:t>
            </a:r>
          </a:p>
          <a:p xmlns:a="http://schemas.openxmlformats.org/drawingml/2006/main">
            <a:r>
              <a:rPr lang="en-US" sz="1600">
                <a:solidFill>
                  <a:srgbClr val="1F2328"/>
                </a:solidFill>
              </a:rPr>
              <a:t>IBM Granite 13B Instruct v2</a:t>
            </a:r>
          </a:p>
          <a:p xmlns:a="http://schemas.openxmlformats.org/drawingml/2006/main">
            <a:r>
              <a:rPr lang="en-US" sz="1600">
                <a:solidFill>
                  <a:srgbClr val="1F2328"/>
                </a:solidFill>
              </a:rPr>
              <a:t>Python 3.10+</a:t>
            </a:r>
          </a:p>
          <a:p xmlns:a="http://schemas.openxmlformats.org/drawingml/2006/main">
            <a:r>
              <a:rPr lang="en-US" sz="1600">
                <a:solidFill>
                  <a:srgbClr val="1F2328"/>
                </a:solidFill>
              </a:rPr>
              <a:t>.env config (dotenv)</a:t>
            </a:r>
          </a:p>
          <a:p xmlns:a="http://schemas.openxmlformats.org/drawingml/2006/main">
            <a:r>
              <a:rPr lang="en-US" sz="1600">
                <a:solidFill>
                  <a:srgbClr val="1F2328"/>
                </a:solidFill>
              </a:rPr>
              <a:t>FAISS persistent index</a:t>
            </a:r>
          </a:p>
          <a:p xmlns:a="http://schemas.openxmlformats.org/drawingml/2006/main">
            <a:r>
              <a:rPr lang="en-US" sz="1600">
                <a:solidFill>
                  <a:srgbClr val="1F2328"/>
                </a:solidFill>
              </a:rPr>
              <a:t>(data/faiss_index.pkl)</a:t>
            </a:r>
          </a:p>
        </p:txBody>
      </p:sp>
      <p:sp>
        <p:nvSpPr>
          <p:cNvPr id="100079" name="EnvNote"/>
          <p:cNvSpPr txBox="1"/>
          <p:nvPr/>
        </p:nvSpPr>
        <p:spPr>
          <a:xfrm xmlns:a="http://schemas.openxmlformats.org/drawingml/2006/main">
            <a:off x="540000" y="4500000"/>
            <a:ext cx="10800000" cy="468000"/>
          </a:xfrm>
          <a:prstGeom xmlns:a="http://schemas.openxmlformats.org/drawingml/2006/main" prst="rect">
            <a:avLst/>
          </a:prstGeom>
          <a:solidFill xmlns:a="http://schemas.openxmlformats.org/drawingml/2006/main">
            <a:srgbClr val="0A2540"/>
          </a:solidFill>
        </p:spPr>
        <p:txBody>
          <a:bodyPr xmlns:a="http://schemas.openxmlformats.org/drawingml/2006/main"/>
          <a:lstStyle xmlns:a="http://schemas.openxmlformats.org/drawingml/2006/main"/>
          <a:p xmlns:a="http://schemas.openxmlformats.org/drawingml/2006/main">
            <a:r>
              <a:rPr lang="en-US" sz="1600" b="1">
                <a:solidFill>
                  <a:srgbClr val="FFFFFF"/>
                </a:solidFill>
              </a:rPr>
              <a:t>Config via .env:  WATSONX_URL  ·  WATSONX_API_KEY  ·  WATSONX_PROJECT_ID</a:t>
            </a:r>
          </a:p>
        </p:txBody>
      </p:sp>
    </p:spTree>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80" name="Heade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E74C3C"/>
          </a:solidFill>
        </p:spPr>
        <p:txBody>
          <a:bodyPr xmlns:a="http://schemas.openxmlformats.org/drawingml/2006/main"/>
          <a:lstStyle xmlns:a="http://schemas.openxmlformats.org/drawingml/2006/main"/>
          <a:p xmlns:a="http://schemas.openxmlformats.org/drawingml/2006/main">
            <a:endParaRPr lang="en-US" sz="3600" b="1">
              <a:solidFill>
                <a:srgbClr val="FFFFFF"/>
              </a:solidFill>
            </a:endParaRPr>
          </a:p>
        </p:txBody>
      </p:sp>
      <p:sp>
        <p:nvSpPr>
          <p:cNvPr id="100081" name="Title"/>
          <p:cNvSpPr txBox="1"/>
          <p:nvPr/>
        </p:nvSpPr>
        <p:spPr>
          <a:xfrm xmlns:a="http://schemas.openxmlformats.org/drawingml/2006/main">
            <a:off x="540000" y="144000"/>
            <a:ext cx="108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Ethics, Safety &amp; Disclaimer</a:t>
            </a:r>
          </a:p>
        </p:txBody>
      </p:sp>
      <p:sp>
        <p:nvSpPr>
          <p:cNvPr id="100082" name="E1"/>
          <p:cNvSpPr txBox="1"/>
          <p:nvPr/>
        </p:nvSpPr>
        <p:spPr>
          <a:xfrm xmlns:a="http://schemas.openxmlformats.org/drawingml/2006/main">
            <a:off x="540000" y="1260000"/>
            <a:ext cx="10800000" cy="432000"/>
          </a:xfrm>
          <a:prstGeom xmlns:a="http://schemas.openxmlformats.org/drawingml/2006/main" prst="rect">
            <a:avLst/>
          </a:prstGeom>
          <a:solidFill xmlns:a="http://schemas.openxmlformats.org/drawingml/2006/main">
            <a:srgbClr val="C0392B"/>
          </a:solidFill>
        </p:spPr>
        <p:txBody>
          <a:bodyPr xmlns:a="http://schemas.openxmlformats.org/drawingml/2006/main"/>
          <a:lstStyle xmlns:a="http://schemas.openxmlformats.org/drawingml/2006/main"/>
          <a:p xmlns:a="http://schemas.openxmlformats.org/drawingml/2006/main">
            <a:r>
              <a:rPr lang="en-US" sz="1800" b="1">
                <a:solidFill>
                  <a:srgbClr val="FFFFFF"/>
                </a:solidFill>
              </a:rPr>
              <a:t>NEVER suggest harmful actions or self-harm methods</a:t>
            </a:r>
          </a:p>
        </p:txBody>
      </p:sp>
      <p:sp>
        <p:nvSpPr>
          <p:cNvPr id="100083" name="E2"/>
          <p:cNvSpPr txBox="1"/>
          <p:nvPr/>
        </p:nvSpPr>
        <p:spPr>
          <a:xfrm xmlns:a="http://schemas.openxmlformats.org/drawingml/2006/main">
            <a:off x="540000" y="1800000"/>
            <a:ext cx="10800000" cy="432000"/>
          </a:xfrm>
          <a:prstGeom xmlns:a="http://schemas.openxmlformats.org/drawingml/2006/main" prst="rect">
            <a:avLst/>
          </a:prstGeom>
          <a:solidFill xmlns:a="http://schemas.openxmlformats.org/drawingml/2006/main">
            <a:srgbClr val="C0392B"/>
          </a:solidFill>
        </p:spPr>
        <p:txBody>
          <a:bodyPr xmlns:a="http://schemas.openxmlformats.org/drawingml/2006/main"/>
          <a:lstStyle xmlns:a="http://schemas.openxmlformats.org/drawingml/2006/main"/>
          <a:p xmlns:a="http://schemas.openxmlformats.org/drawingml/2006/main">
            <a:r>
              <a:rPr lang="en-US" sz="1800" b="1">
                <a:solidFill>
                  <a:srgbClr val="FFFFFF"/>
                </a:solidFill>
              </a:rPr>
              <a:t>NEVER diagnose medical conditions</a:t>
            </a:r>
          </a:p>
        </p:txBody>
      </p:sp>
      <p:sp>
        <p:nvSpPr>
          <p:cNvPr id="100084" name="E3"/>
          <p:cNvSpPr txBox="1"/>
          <p:nvPr/>
        </p:nvSpPr>
        <p:spPr>
          <a:xfrm xmlns:a="http://schemas.openxmlformats.org/drawingml/2006/main">
            <a:off x="540000" y="2340000"/>
            <a:ext cx="10800000" cy="432000"/>
          </a:xfrm>
          <a:prstGeom xmlns:a="http://schemas.openxmlformats.org/drawingml/2006/main" prst="rect">
            <a:avLst/>
          </a:prstGeom>
          <a:solidFill xmlns:a="http://schemas.openxmlformats.org/drawingml/2006/main">
            <a:srgbClr val="E67E22"/>
          </a:solidFill>
        </p:spPr>
        <p:txBody>
          <a:bodyPr xmlns:a="http://schemas.openxmlformats.org/drawingml/2006/main"/>
          <a:lstStyle xmlns:a="http://schemas.openxmlformats.org/drawingml/2006/main"/>
          <a:p xmlns:a="http://schemas.openxmlformats.org/drawingml/2006/main">
            <a:r>
              <a:rPr lang="en-US" sz="1800" b="1">
                <a:solidFill>
                  <a:srgbClr val="FFFFFF"/>
                </a:solidFill>
              </a:rPr>
              <a:t>ALWAYS encourage professional help for serious concerns</a:t>
            </a:r>
          </a:p>
        </p:txBody>
      </p:sp>
      <p:sp>
        <p:nvSpPr>
          <p:cNvPr id="100085" name="E4"/>
          <p:cNvSpPr txBox="1"/>
          <p:nvPr/>
        </p:nvSpPr>
        <p:spPr>
          <a:xfrm xmlns:a="http://schemas.openxmlformats.org/drawingml/2006/main">
            <a:off x="540000" y="2880000"/>
            <a:ext cx="10800000" cy="432000"/>
          </a:xfrm>
          <a:prstGeom xmlns:a="http://schemas.openxmlformats.org/drawingml/2006/main" prst="rect">
            <a:avLst/>
          </a:prstGeom>
          <a:solidFill xmlns:a="http://schemas.openxmlformats.org/drawingml/2006/main">
            <a:srgbClr val="27AE60"/>
          </a:solidFill>
        </p:spPr>
        <p:txBody>
          <a:bodyPr xmlns:a="http://schemas.openxmlformats.org/drawingml/2006/main"/>
          <a:lstStyle xmlns:a="http://schemas.openxmlformats.org/drawingml/2006/main"/>
          <a:p xmlns:a="http://schemas.openxmlformats.org/drawingml/2006/main">
            <a:r>
              <a:rPr lang="en-US" sz="1800" b="1">
                <a:solidFill>
                  <a:srgbClr val="FFFFFF"/>
                </a:solidFill>
              </a:rPr>
              <a:t>Person-first, respectful language — maintain user dignity &amp; privacy</a:t>
            </a:r>
          </a:p>
        </p:txBody>
      </p:sp>
      <p:sp>
        <p:nvSpPr>
          <p:cNvPr id="100086" name="Disclaimer"/>
          <p:cNvSpPr txBox="1"/>
          <p:nvPr/>
        </p:nvSpPr>
        <p:spPr>
          <a:xfrm xmlns:a="http://schemas.openxmlformats.org/drawingml/2006/main">
            <a:off x="540000" y="3492000"/>
            <a:ext cx="10800000" cy="1440000"/>
          </a:xfrm>
          <a:prstGeom xmlns:a="http://schemas.openxmlformats.org/drawingml/2006/main" prst="rect">
            <a:avLst/>
          </a:prstGeom>
          <a:solidFill xmlns:a="http://schemas.openxmlformats.org/drawingml/2006/main">
            <a:srgbClr val="FFF5F5"/>
          </a:solidFill>
        </p:spPr>
        <p:txBody>
          <a:bodyPr xmlns:a="http://schemas.openxmlformats.org/drawingml/2006/main"/>
          <a:lstStyle xmlns:a="http://schemas.openxmlformats.org/drawingml/2006/main"/>
          <a:p xmlns:a="http://schemas.openxmlformats.org/drawingml/2006/main">
            <a:r>
              <a:rPr lang="en-US" sz="1600">
                <a:solidFill>
                  <a:srgbClr val="1F2328"/>
                </a:solidFill>
              </a:rPr>
              <a:t>Medical Disclaimer (appended to every response)</a:t>
            </a:r>
          </a:p>
          <a:p xmlns:a="http://schemas.openxmlformats.org/drawingml/2006/main">
            <a:r>
              <a:rPr lang="en-US" sz="1600">
                <a:solidFill>
                  <a:srgbClr val="1F2328"/>
                </a:solidFill>
              </a:rPr>
              <a:t/>
            </a:r>
          </a:p>
          <a:p xmlns:a="http://schemas.openxmlformats.org/drawingml/2006/main">
            <a:r>
              <a:rPr lang="en-US" sz="1600">
                <a:solidFill>
                  <a:srgbClr val="1F2328"/>
                </a:solidFill>
              </a:rPr>
              <a:t>"I am an AI assistant, not a licensed mental health professional. This is for educational &amp; supportive purposes only — not medical advice, diagnosis, or treatment. In a crisis, please contact emergency services or a qualified healthcare provider immediately."</a:t>
            </a:r>
          </a:p>
        </p:txBody>
      </p:sp>
    </p:spTree>
  </p:cSld>
</p:sld>
</file>

<file path=ppt/slides/slide12.xml><?xml version="1.0" encoding="utf-8"?>
<p:sld xmlns:p="http://schemas.openxmlformats.org/presentationml/2006/main">
  <p:cSld>
    <p:bg>
      <p:bgPr>
        <a:solidFill xmlns:a="http://schemas.openxmlformats.org/drawingml/2006/main">
          <a:srgbClr val="0A2540"/>
        </a:solidFill>
      </p:bgPr>
    </p:bg>
    <p:spTree>
      <p:nvGrpSpPr>
        <p:cNvPr id="1" name=""/>
        <p:cNvGrpSpPr/>
        <p:nvPr/>
      </p:nvGrpSpPr>
      <p:grpSpPr/>
      <p:sp>
        <p:nvSpPr>
          <p:cNvPr id="100087" name="Title"/>
          <p:cNvSpPr txBox="1"/>
          <p:nvPr/>
        </p:nvSpPr>
        <p:spPr>
          <a:xfrm xmlns:a="http://schemas.openxmlformats.org/drawingml/2006/main">
            <a:off x="540000" y="540000"/>
            <a:ext cx="10800000" cy="9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4000" b="1">
                <a:solidFill>
                  <a:srgbClr val="FFFFFF"/>
                </a:solidFill>
              </a:rPr>
              <a:t>Summary &amp; Impact</a:t>
            </a:r>
          </a:p>
        </p:txBody>
      </p:sp>
      <p:sp>
        <p:nvSpPr>
          <p:cNvPr id="100088" name="P1"/>
          <p:cNvSpPr txBox="1"/>
          <p:nvPr/>
        </p:nvSpPr>
        <p:spPr>
          <a:xfrm xmlns:a="http://schemas.openxmlformats.org/drawingml/2006/main">
            <a:off x="540000" y="1800000"/>
            <a:ext cx="2520000" cy="1800000"/>
          </a:xfrm>
          <a:prstGeom xmlns:a="http://schemas.openxmlformats.org/drawingml/2006/main" prst="rect">
            <a:avLst/>
          </a:prstGeom>
          <a:solidFill xmlns:a="http://schemas.openxmlformats.org/drawingml/2006/main">
            <a:srgbClr val="3B82D4"/>
          </a:solidFill>
        </p:spPr>
        <p:txBody>
          <a:bodyPr xmlns:a="http://schemas.openxmlformats.org/drawingml/2006/main"/>
          <a:lstStyle xmlns:a="http://schemas.openxmlformats.org/drawingml/2006/main"/>
          <a:p xmlns:a="http://schemas.openxmlformats.org/drawingml/2006/main">
            <a:r>
              <a:rPr lang="en-US" sz="1600">
                <a:solidFill>
                  <a:srgbClr val="FFFFFF"/>
                </a:solidFill>
              </a:rPr>
              <a:t>Empathetic AI</a:t>
            </a:r>
          </a:p>
        </p:txBody>
      </p:sp>
      <p:sp>
        <p:nvSpPr>
          <p:cNvPr id="100089" name="P1D"/>
          <p:cNvSpPr txBox="1"/>
          <p:nvPr/>
        </p:nvSpPr>
        <p:spPr>
          <a:xfrm xmlns:a="http://schemas.openxmlformats.org/drawingml/2006/main">
            <a:off x="540000" y="1872000"/>
            <a:ext cx="2520000" cy="1728000"/>
          </a:xfrm>
          <a:prstGeom xmlns:a="http://schemas.openxmlformats.org/drawingml/2006/main" prst="rect">
            <a:avLst/>
          </a:prstGeom>
          <a:solidFill xmlns:a="http://schemas.openxmlformats.org/drawingml/2006/main">
            <a:srgbClr val="3B82D4"/>
          </a:solidFill>
        </p:spPr>
        <p:txBody>
          <a:bodyPr xmlns:a="http://schemas.openxmlformats.org/drawingml/2006/main"/>
          <a:lstStyle xmlns:a="http://schemas.openxmlformats.org/drawingml/2006/main"/>
          <a:p xmlns:a="http://schemas.openxmlformats.org/drawingml/2006/main">
            <a:r>
              <a:rPr lang="en-US" sz="1500">
                <a:solidFill>
                  <a:srgbClr val="FFFFFF"/>
                </a:solidFill>
              </a:rPr>
              <a:t>IBM Granite LLM with HAM tone — Helpful, Accurate, Mindful</a:t>
            </a:r>
          </a:p>
        </p:txBody>
      </p:sp>
      <p:sp>
        <p:nvSpPr>
          <p:cNvPr id="100090" name="P2"/>
          <p:cNvSpPr txBox="1"/>
          <p:nvPr/>
        </p:nvSpPr>
        <p:spPr>
          <a:xfrm xmlns:a="http://schemas.openxmlformats.org/drawingml/2006/main">
            <a:off x="3420000" y="1800000"/>
            <a:ext cx="2520000" cy="1800000"/>
          </a:xfrm>
          <a:prstGeom xmlns:a="http://schemas.openxmlformats.org/drawingml/2006/main" prst="rect">
            <a:avLst/>
          </a:prstGeom>
          <a:solidFill xmlns:a="http://schemas.openxmlformats.org/drawingml/2006/main">
            <a:srgbClr val="27AE60"/>
          </a:solidFill>
        </p:spPr>
        <p:txBody>
          <a:bodyPr xmlns:a="http://schemas.openxmlformats.org/drawingml/2006/main"/>
          <a:lstStyle xmlns:a="http://schemas.openxmlformats.org/drawingml/2006/main"/>
          <a:p xmlns:a="http://schemas.openxmlformats.org/drawingml/2006/main">
            <a:r>
              <a:rPr lang="en-US" sz="1600">
                <a:solidFill>
                  <a:srgbClr val="FFFFFF"/>
                </a:solidFill>
              </a:rPr>
              <a:t>Evidence-Based RAG</a:t>
            </a:r>
          </a:p>
        </p:txBody>
      </p:sp>
      <p:sp>
        <p:nvSpPr>
          <p:cNvPr id="100091" name="P2D"/>
          <p:cNvSpPr txBox="1"/>
          <p:nvPr/>
        </p:nvSpPr>
        <p:spPr>
          <a:xfrm xmlns:a="http://schemas.openxmlformats.org/drawingml/2006/main">
            <a:off x="3420000" y="1872000"/>
            <a:ext cx="2520000" cy="1728000"/>
          </a:xfrm>
          <a:prstGeom xmlns:a="http://schemas.openxmlformats.org/drawingml/2006/main" prst="rect">
            <a:avLst/>
          </a:prstGeom>
          <a:solidFill xmlns:a="http://schemas.openxmlformats.org/drawingml/2006/main">
            <a:srgbClr val="27AE60"/>
          </a:solidFill>
        </p:spPr>
        <p:txBody>
          <a:bodyPr xmlns:a="http://schemas.openxmlformats.org/drawingml/2006/main"/>
          <a:lstStyle xmlns:a="http://schemas.openxmlformats.org/drawingml/2006/main"/>
          <a:p xmlns:a="http://schemas.openxmlformats.org/drawingml/2006/main">
            <a:r>
              <a:rPr lang="en-US" sz="1500">
                <a:solidFill>
                  <a:srgbClr val="FFFFFF"/>
                </a:solidFill>
              </a:rPr>
              <a:t>FAISS + SentenceTransformers ground every response in curated clinical knowledge</a:t>
            </a:r>
          </a:p>
        </p:txBody>
      </p:sp>
      <p:sp>
        <p:nvSpPr>
          <p:cNvPr id="100092" name="P3"/>
          <p:cNvSpPr txBox="1"/>
          <p:nvPr/>
        </p:nvSpPr>
        <p:spPr>
          <a:xfrm xmlns:a="http://schemas.openxmlformats.org/drawingml/2006/main">
            <a:off x="6300000" y="1800000"/>
            <a:ext cx="2520000" cy="1800000"/>
          </a:xfrm>
          <a:prstGeom xmlns:a="http://schemas.openxmlformats.org/drawingml/2006/main" prst="rect">
            <a:avLst/>
          </a:prstGeom>
          <a:solidFill xmlns:a="http://schemas.openxmlformats.org/drawingml/2006/main">
            <a:srgbClr val="E74C3C"/>
          </a:solidFill>
        </p:spPr>
        <p:txBody>
          <a:bodyPr xmlns:a="http://schemas.openxmlformats.org/drawingml/2006/main"/>
          <a:lstStyle xmlns:a="http://schemas.openxmlformats.org/drawingml/2006/main"/>
          <a:p xmlns:a="http://schemas.openxmlformats.org/drawingml/2006/main">
            <a:r>
              <a:rPr lang="en-US" sz="1600">
                <a:solidFill>
                  <a:srgbClr val="FFFFFF"/>
                </a:solidFill>
              </a:rPr>
              <a:t>Real-Time Crisis Detection</a:t>
            </a:r>
          </a:p>
        </p:txBody>
      </p:sp>
      <p:sp>
        <p:nvSpPr>
          <p:cNvPr id="100093" name="P3D"/>
          <p:cNvSpPr txBox="1"/>
          <p:nvPr/>
        </p:nvSpPr>
        <p:spPr>
          <a:xfrm xmlns:a="http://schemas.openxmlformats.org/drawingml/2006/main">
            <a:off x="6300000" y="1872000"/>
            <a:ext cx="2520000" cy="1728000"/>
          </a:xfrm>
          <a:prstGeom xmlns:a="http://schemas.openxmlformats.org/drawingml/2006/main" prst="rect">
            <a:avLst/>
          </a:prstGeom>
          <a:solidFill xmlns:a="http://schemas.openxmlformats.org/drawingml/2006/main">
            <a:srgbClr val="E74C3C"/>
          </a:solidFill>
        </p:spPr>
        <p:txBody>
          <a:bodyPr xmlns:a="http://schemas.openxmlformats.org/drawingml/2006/main"/>
          <a:lstStyle xmlns:a="http://schemas.openxmlformats.org/drawingml/2006/main"/>
          <a:p xmlns:a="http://schemas.openxmlformats.org/drawingml/2006/main">
            <a:r>
              <a:rPr lang="en-US" sz="1500">
                <a:solidFill>
                  <a:srgbClr val="FFFFFF"/>
                </a:solidFill>
              </a:rPr>
              <a:t>Two-tier keyword triage triggers immediate crisis resource injection</a:t>
            </a:r>
          </a:p>
        </p:txBody>
      </p:sp>
      <p:sp>
        <p:nvSpPr>
          <p:cNvPr id="100094" name="P4"/>
          <p:cNvSpPr txBox="1"/>
          <p:nvPr/>
        </p:nvSpPr>
        <p:spPr>
          <a:xfrm xmlns:a="http://schemas.openxmlformats.org/drawingml/2006/main">
            <a:off x="9180000" y="1800000"/>
            <a:ext cx="2520000" cy="1800000"/>
          </a:xfrm>
          <a:prstGeom xmlns:a="http://schemas.openxmlformats.org/drawingml/2006/main" prst="rect">
            <a:avLst/>
          </a:prstGeom>
          <a:solidFill xmlns:a="http://schemas.openxmlformats.org/drawingml/2006/main">
            <a:srgbClr val="7C5CD8"/>
          </a:solidFill>
        </p:spPr>
        <p:txBody>
          <a:bodyPr xmlns:a="http://schemas.openxmlformats.org/drawingml/2006/main"/>
          <a:lstStyle xmlns:a="http://schemas.openxmlformats.org/drawingml/2006/main"/>
          <a:p xmlns:a="http://schemas.openxmlformats.org/drawingml/2006/main">
            <a:r>
              <a:rPr lang="en-US" sz="1600">
                <a:solidFill>
                  <a:srgbClr val="FFFFFF"/>
                </a:solidFill>
              </a:rPr>
              <a:t>Safe &amp; Ethical</a:t>
            </a:r>
          </a:p>
        </p:txBody>
      </p:sp>
      <p:sp>
        <p:nvSpPr>
          <p:cNvPr id="100095" name="P4D"/>
          <p:cNvSpPr txBox="1"/>
          <p:nvPr/>
        </p:nvSpPr>
        <p:spPr>
          <a:xfrm xmlns:a="http://schemas.openxmlformats.org/drawingml/2006/main">
            <a:off x="9180000" y="1872000"/>
            <a:ext cx="2520000" cy="1728000"/>
          </a:xfrm>
          <a:prstGeom xmlns:a="http://schemas.openxmlformats.org/drawingml/2006/main" prst="rect">
            <a:avLst/>
          </a:prstGeom>
          <a:solidFill xmlns:a="http://schemas.openxmlformats.org/drawingml/2006/main">
            <a:srgbClr val="7C5CD8"/>
          </a:solidFill>
        </p:spPr>
        <p:txBody>
          <a:bodyPr xmlns:a="http://schemas.openxmlformats.org/drawingml/2006/main"/>
          <a:lstStyle xmlns:a="http://schemas.openxmlformats.org/drawingml/2006/main"/>
          <a:p xmlns:a="http://schemas.openxmlformats.org/drawingml/2006/main">
            <a:r>
              <a:rPr lang="en-US" sz="1500">
                <a:solidFill>
                  <a:srgbClr val="FFFFFF"/>
                </a:solidFill>
              </a:rPr>
              <a:t>Ethics guardrails + mandatory medical disclaimer on every response</a:t>
            </a:r>
          </a:p>
        </p:txBody>
      </p:sp>
      <p:sp>
        <p:nvSpPr>
          <p:cNvPr id="100096" name="Closing"/>
          <p:cNvSpPr txBox="1"/>
          <p:nvPr/>
        </p:nvSpPr>
        <p:spPr>
          <a:xfrm xmlns:a="http://schemas.openxmlformats.org/drawingml/2006/main">
            <a:off x="540000" y="4320000"/>
            <a:ext cx="10800000" cy="9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b="0">
                <a:solidFill>
                  <a:srgbClr val="A8D8EA"/>
                </a:solidFill>
              </a:rPr>
              <a:t>MindGuard demonstrates that IBM Granite LLM and watsonx.ai can power responsible, life-saving AI applications at the intersection of technology and human wellbeing.</a:t>
            </a:r>
          </a:p>
        </p:txBody>
      </p:sp>
    </p:spTree>
  </p:cSld>
</p:sld>
</file>

<file path=ppt/slides/slide13.xml><?xml version="1.0" encoding="utf-8"?>
<p:sld xmlns:p="http://schemas.openxmlformats.org/presentationml/2006/main">
  <p:cSld>
    <p:bg>
      <p:bgPr>
        <a:solidFill xmlns:a="http://schemas.openxmlformats.org/drawingml/2006/main">
          <a:srgbClr val="0A2540"/>
        </a:solidFill>
      </p:bgPr>
    </p:bg>
    <p:spTree>
      <p:nvGrpSpPr>
        <p:cNvPr id="1" name=""/>
        <p:cNvGrpSpPr/>
        <p:nvPr/>
      </p:nvGrpSpPr>
      <p:grpSpPr/>
      <p:sp>
        <p:nvSpPr>
          <p:cNvPr id="100097" name="Title"/>
          <p:cNvSpPr txBox="1"/>
          <p:nvPr/>
        </p:nvSpPr>
        <p:spPr>
          <a:xfrm xmlns:a="http://schemas.openxmlformats.org/drawingml/2006/main">
            <a:off x="540000" y="1260000"/>
            <a:ext cx="10800000" cy="10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5400" b="1">
                <a:solidFill>
                  <a:srgbClr val="FFFFFF"/>
                </a:solidFill>
              </a:rPr>
              <a:t>Thank You</a:t>
            </a:r>
          </a:p>
        </p:txBody>
      </p:sp>
      <p:sp>
        <p:nvSpPr>
          <p:cNvPr id="100098" name="Sub"/>
          <p:cNvSpPr txBox="1"/>
          <p:nvPr/>
        </p:nvSpPr>
        <p:spPr>
          <a:xfrm xmlns:a="http://schemas.openxmlformats.org/drawingml/2006/main">
            <a:off x="540000" y="2700000"/>
            <a:ext cx="1080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a:solidFill>
                  <a:srgbClr val="A8D8EA"/>
                </a:solidFill>
              </a:rPr>
              <a:t>MindGuard AI — Mental Health Awareness &amp; Suicide Prevention</a:t>
            </a:r>
          </a:p>
        </p:txBody>
      </p:sp>
      <p:sp>
        <p:nvSpPr>
          <p:cNvPr id="100099" name="Stack"/>
          <p:cNvSpPr txBox="1"/>
          <p:nvPr/>
        </p:nvSpPr>
        <p:spPr>
          <a:xfrm xmlns:a="http://schemas.openxmlformats.org/drawingml/2006/main">
            <a:off x="540000" y="3600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a:solidFill>
                  <a:srgbClr val="7EC8E3"/>
                </a:solidFill>
              </a:rPr>
              <a:t>IBM Granite 13B · watsonx.ai · FAISS · SentenceTransformers · Flask · Python</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OfficeCLI/1.0.144</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2026-10-14T05:25:49Z</dcterms:created>
  <cp:lastModifiedBy>OfficeCLI</cp:lastModifiedBy>
  <dcterms:modified xsi:type="dcterms:W3CDTF">2026-10-14T05:25:49Z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1.0.144</vt:lpwstr>
  </op:property>
  <op:property fmtid="{D5CDD505-2E9C-101B-9397-08002B2CF9AE}" pid="3" name="OfficeCLI.LastModified">
    <vt:lpwstr xmlns:vt="http://schemas.openxmlformats.org/officeDocument/2006/docPropsVTypes">2026-10-14T05:25:51Z</vt:lpwstr>
  </op:property>
</op:Properties>
</file>